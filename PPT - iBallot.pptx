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66" r:id="rId2"/>
    <p:sldId id="282" r:id="rId3"/>
    <p:sldId id="257" r:id="rId4"/>
    <p:sldId id="277" r:id="rId5"/>
    <p:sldId id="258" r:id="rId6"/>
    <p:sldId id="259" r:id="rId7"/>
    <p:sldId id="278" r:id="rId8"/>
    <p:sldId id="283" r:id="rId9"/>
    <p:sldId id="260" r:id="rId10"/>
    <p:sldId id="295" r:id="rId11"/>
    <p:sldId id="261" r:id="rId12"/>
    <p:sldId id="286" r:id="rId13"/>
    <p:sldId id="289" r:id="rId14"/>
    <p:sldId id="263" r:id="rId15"/>
    <p:sldId id="276" r:id="rId16"/>
    <p:sldId id="275" r:id="rId17"/>
    <p:sldId id="271" r:id="rId18"/>
    <p:sldId id="274" r:id="rId19"/>
    <p:sldId id="297" r:id="rId20"/>
    <p:sldId id="273" r:id="rId21"/>
    <p:sldId id="291" r:id="rId22"/>
    <p:sldId id="290" r:id="rId23"/>
    <p:sldId id="292" r:id="rId24"/>
    <p:sldId id="296" r:id="rId25"/>
    <p:sldId id="293" r:id="rId26"/>
    <p:sldId id="294" r:id="rId27"/>
    <p:sldId id="264" r:id="rId28"/>
    <p:sldId id="284" r:id="rId29"/>
    <p:sldId id="285" r:id="rId30"/>
    <p:sldId id="265"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40A0EB-FE81-4B90-93B1-C3AF3A291CE7}" v="47" dt="2025-12-04T10:14:38.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1" autoAdjust="0"/>
  </p:normalViewPr>
  <p:slideViewPr>
    <p:cSldViewPr snapToGrid="0">
      <p:cViewPr varScale="1">
        <p:scale>
          <a:sx n="47" d="100"/>
          <a:sy n="47" d="100"/>
        </p:scale>
        <p:origin x="68"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92EC30-90BD-48DD-95E3-4B539A7B98B6}" type="datetimeFigureOut">
              <a:rPr lang="en-IN" smtClean="0"/>
              <a:t>21-12-2025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4C8FAB-4184-4677-805D-791177D95DCE}" type="slidenum">
              <a:rPr lang="en-IN" smtClean="0"/>
              <a:t>‹#›</a:t>
            </a:fld>
            <a:endParaRPr lang="en-IN"/>
          </a:p>
        </p:txBody>
      </p:sp>
    </p:spTree>
    <p:extLst>
      <p:ext uri="{BB962C8B-B14F-4D97-AF65-F5344CB8AC3E}">
        <p14:creationId xmlns:p14="http://schemas.microsoft.com/office/powerpoint/2010/main" val="239482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
        <p:nvSpPr>
          <p:cNvPr id="83" name="Google Shape;8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542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dk1"/>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8131172" y="7"/>
            <a:ext cx="4060833" cy="2707427"/>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 name="Google Shape;16;p2"/>
          <p:cNvSpPr txBox="1">
            <a:spLocks noGrp="1"/>
          </p:cNvSpPr>
          <p:nvPr>
            <p:ph type="ctrTitle"/>
          </p:nvPr>
        </p:nvSpPr>
        <p:spPr>
          <a:xfrm>
            <a:off x="797467" y="2366963"/>
            <a:ext cx="10962800" cy="11184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200"/>
              <a:buNone/>
              <a:defRPr sz="5600">
                <a:solidFill>
                  <a:schemeClr val="lt1"/>
                </a:solidFill>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17" name="Google Shape;17;p2"/>
          <p:cNvSpPr txBox="1">
            <a:spLocks noGrp="1"/>
          </p:cNvSpPr>
          <p:nvPr>
            <p:ph type="subTitle" idx="1"/>
          </p:nvPr>
        </p:nvSpPr>
        <p:spPr>
          <a:xfrm>
            <a:off x="797451" y="3621217"/>
            <a:ext cx="10962800" cy="577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100"/>
              <a:buNone/>
              <a:defRPr sz="2800">
                <a:solidFill>
                  <a:schemeClr val="lt1"/>
                </a:solidFill>
              </a:defRPr>
            </a:lvl1pPr>
            <a:lvl2pPr lvl="1">
              <a:lnSpc>
                <a:spcPct val="100000"/>
              </a:lnSpc>
              <a:spcBef>
                <a:spcPts val="0"/>
              </a:spcBef>
              <a:spcAft>
                <a:spcPts val="0"/>
              </a:spcAft>
              <a:buClr>
                <a:schemeClr val="lt1"/>
              </a:buClr>
              <a:buSzPts val="2100"/>
              <a:buNone/>
              <a:defRPr sz="2800">
                <a:solidFill>
                  <a:schemeClr val="lt1"/>
                </a:solidFill>
              </a:defRPr>
            </a:lvl2pPr>
            <a:lvl3pPr lvl="2">
              <a:lnSpc>
                <a:spcPct val="100000"/>
              </a:lnSpc>
              <a:spcBef>
                <a:spcPts val="0"/>
              </a:spcBef>
              <a:spcAft>
                <a:spcPts val="0"/>
              </a:spcAft>
              <a:buClr>
                <a:schemeClr val="lt1"/>
              </a:buClr>
              <a:buSzPts val="2100"/>
              <a:buNone/>
              <a:defRPr sz="2800">
                <a:solidFill>
                  <a:schemeClr val="lt1"/>
                </a:solidFill>
              </a:defRPr>
            </a:lvl3pPr>
            <a:lvl4pPr lvl="3">
              <a:lnSpc>
                <a:spcPct val="100000"/>
              </a:lnSpc>
              <a:spcBef>
                <a:spcPts val="0"/>
              </a:spcBef>
              <a:spcAft>
                <a:spcPts val="0"/>
              </a:spcAft>
              <a:buClr>
                <a:schemeClr val="lt1"/>
              </a:buClr>
              <a:buSzPts val="2100"/>
              <a:buNone/>
              <a:defRPr sz="2800">
                <a:solidFill>
                  <a:schemeClr val="lt1"/>
                </a:solidFill>
              </a:defRPr>
            </a:lvl4pPr>
            <a:lvl5pPr lvl="4">
              <a:lnSpc>
                <a:spcPct val="100000"/>
              </a:lnSpc>
              <a:spcBef>
                <a:spcPts val="0"/>
              </a:spcBef>
              <a:spcAft>
                <a:spcPts val="0"/>
              </a:spcAft>
              <a:buClr>
                <a:schemeClr val="lt1"/>
              </a:buClr>
              <a:buSzPts val="2100"/>
              <a:buNone/>
              <a:defRPr sz="2800">
                <a:solidFill>
                  <a:schemeClr val="lt1"/>
                </a:solidFill>
              </a:defRPr>
            </a:lvl5pPr>
            <a:lvl6pPr lvl="5">
              <a:lnSpc>
                <a:spcPct val="100000"/>
              </a:lnSpc>
              <a:spcBef>
                <a:spcPts val="0"/>
              </a:spcBef>
              <a:spcAft>
                <a:spcPts val="0"/>
              </a:spcAft>
              <a:buClr>
                <a:schemeClr val="lt1"/>
              </a:buClr>
              <a:buSzPts val="2100"/>
              <a:buNone/>
              <a:defRPr sz="2800">
                <a:solidFill>
                  <a:schemeClr val="lt1"/>
                </a:solidFill>
              </a:defRPr>
            </a:lvl6pPr>
            <a:lvl7pPr lvl="6">
              <a:lnSpc>
                <a:spcPct val="100000"/>
              </a:lnSpc>
              <a:spcBef>
                <a:spcPts val="0"/>
              </a:spcBef>
              <a:spcAft>
                <a:spcPts val="0"/>
              </a:spcAft>
              <a:buClr>
                <a:schemeClr val="lt1"/>
              </a:buClr>
              <a:buSzPts val="2100"/>
              <a:buNone/>
              <a:defRPr sz="2800">
                <a:solidFill>
                  <a:schemeClr val="lt1"/>
                </a:solidFill>
              </a:defRPr>
            </a:lvl7pPr>
            <a:lvl8pPr lvl="7">
              <a:lnSpc>
                <a:spcPct val="100000"/>
              </a:lnSpc>
              <a:spcBef>
                <a:spcPts val="0"/>
              </a:spcBef>
              <a:spcAft>
                <a:spcPts val="0"/>
              </a:spcAft>
              <a:buClr>
                <a:schemeClr val="lt1"/>
              </a:buClr>
              <a:buSzPts val="2100"/>
              <a:buNone/>
              <a:defRPr sz="2800">
                <a:solidFill>
                  <a:schemeClr val="lt1"/>
                </a:solidFill>
              </a:defRPr>
            </a:lvl8pPr>
            <a:lvl9pPr lvl="8">
              <a:lnSpc>
                <a:spcPct val="100000"/>
              </a:lnSpc>
              <a:spcBef>
                <a:spcPts val="0"/>
              </a:spcBef>
              <a:spcAft>
                <a:spcPts val="0"/>
              </a:spcAft>
              <a:buClr>
                <a:schemeClr val="lt1"/>
              </a:buClr>
              <a:buSzPts val="2100"/>
              <a:buNone/>
              <a:defRPr sz="2800">
                <a:solidFill>
                  <a:schemeClr val="lt1"/>
                </a:solidFill>
              </a:defRPr>
            </a:lvl9pPr>
          </a:lstStyle>
          <a:p>
            <a:r>
              <a:rPr lang="en-US"/>
              <a:t>Click to edit Master subtitle style</a:t>
            </a:r>
            <a:endParaRPr/>
          </a:p>
        </p:txBody>
      </p:sp>
      <p:sp>
        <p:nvSpPr>
          <p:cNvPr id="18" name="Google Shape;18;p2"/>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1597086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8"/>
        <p:cNvGrpSpPr/>
        <p:nvPr/>
      </p:nvGrpSpPr>
      <p:grpSpPr>
        <a:xfrm>
          <a:off x="0" y="0"/>
          <a:ext cx="0" cy="0"/>
          <a:chOff x="0" y="0"/>
          <a:chExt cx="0" cy="0"/>
        </a:xfrm>
      </p:grpSpPr>
      <p:grpSp>
        <p:nvGrpSpPr>
          <p:cNvPr id="29" name="Google Shape;29;p4"/>
          <p:cNvGrpSpPr/>
          <p:nvPr/>
        </p:nvGrpSpPr>
        <p:grpSpPr>
          <a:xfrm>
            <a:off x="0" y="5204893"/>
            <a:ext cx="12192000" cy="1653233"/>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4"/>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4"/>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4"/>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5" name="Google Shape;35;p4"/>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36" name="Google Shape;36;p4"/>
          <p:cNvSpPr txBox="1">
            <a:spLocks noGrp="1"/>
          </p:cNvSpPr>
          <p:nvPr>
            <p:ph type="body" idx="1"/>
          </p:nvPr>
        </p:nvSpPr>
        <p:spPr>
          <a:xfrm>
            <a:off x="415600" y="1639833"/>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37" name="Google Shape;37;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3424765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8"/>
        <p:cNvGrpSpPr/>
        <p:nvPr/>
      </p:nvGrpSpPr>
      <p:grpSpPr>
        <a:xfrm>
          <a:off x="0" y="0"/>
          <a:ext cx="0" cy="0"/>
          <a:chOff x="0" y="0"/>
          <a:chExt cx="0" cy="0"/>
        </a:xfrm>
      </p:grpSpPr>
      <p:sp>
        <p:nvSpPr>
          <p:cNvPr id="39" name="Google Shape;39;p5"/>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40" name="Google Shape;40;p5"/>
          <p:cNvSpPr txBox="1">
            <a:spLocks noGrp="1"/>
          </p:cNvSpPr>
          <p:nvPr>
            <p:ph type="body" idx="1"/>
          </p:nvPr>
        </p:nvSpPr>
        <p:spPr>
          <a:xfrm>
            <a:off x="415600" y="1639967"/>
            <a:ext cx="5333200" cy="44520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1" name="Google Shape;41;p5"/>
          <p:cNvSpPr txBox="1">
            <a:spLocks noGrp="1"/>
          </p:cNvSpPr>
          <p:nvPr>
            <p:ph type="body" idx="2"/>
          </p:nvPr>
        </p:nvSpPr>
        <p:spPr>
          <a:xfrm>
            <a:off x="6443200" y="1639967"/>
            <a:ext cx="5333200" cy="44520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2" name="Google Shape;42;p5"/>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2954094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45" name="Google Shape;45;p6"/>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7237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48" name="Google Shape;48;p7"/>
          <p:cNvSpPr txBox="1">
            <a:spLocks noGrp="1"/>
          </p:cNvSpPr>
          <p:nvPr>
            <p:ph type="body" idx="1"/>
          </p:nvPr>
        </p:nvSpPr>
        <p:spPr>
          <a:xfrm>
            <a:off x="415600" y="1954405"/>
            <a:ext cx="3744000" cy="41376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9" name="Google Shape;49;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3181461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4"/>
        </a:solidFill>
        <a:effectLst/>
      </p:bgPr>
    </p:bg>
    <p:spTree>
      <p:nvGrpSpPr>
        <p:cNvPr id="1" name="Shape 50"/>
        <p:cNvGrpSpPr/>
        <p:nvPr/>
      </p:nvGrpSpPr>
      <p:grpSpPr>
        <a:xfrm>
          <a:off x="0" y="0"/>
          <a:ext cx="0" cy="0"/>
          <a:chOff x="0" y="0"/>
          <a:chExt cx="0" cy="0"/>
        </a:xfrm>
      </p:grpSpPr>
      <p:grpSp>
        <p:nvGrpSpPr>
          <p:cNvPr id="51" name="Google Shape;51;p8"/>
          <p:cNvGrpSpPr/>
          <p:nvPr/>
        </p:nvGrpSpPr>
        <p:grpSpPr>
          <a:xfrm>
            <a:off x="8131172" y="7"/>
            <a:ext cx="4060833" cy="2707427"/>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8"/>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8"/>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7" name="Google Shape;57;p8"/>
          <p:cNvSpPr txBox="1">
            <a:spLocks noGrp="1"/>
          </p:cNvSpPr>
          <p:nvPr>
            <p:ph type="title"/>
          </p:nvPr>
        </p:nvSpPr>
        <p:spPr>
          <a:xfrm>
            <a:off x="653667" y="701800"/>
            <a:ext cx="74916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6400">
                <a:solidFill>
                  <a:schemeClr val="lt1"/>
                </a:solidFill>
              </a:defRPr>
            </a:lvl1pPr>
            <a:lvl2pPr lvl="1">
              <a:spcBef>
                <a:spcPts val="0"/>
              </a:spcBef>
              <a:spcAft>
                <a:spcPts val="0"/>
              </a:spcAft>
              <a:buClr>
                <a:schemeClr val="lt1"/>
              </a:buClr>
              <a:buSzPts val="4800"/>
              <a:buNone/>
              <a:defRPr sz="6400">
                <a:solidFill>
                  <a:schemeClr val="lt1"/>
                </a:solidFill>
              </a:defRPr>
            </a:lvl2pPr>
            <a:lvl3pPr lvl="2">
              <a:spcBef>
                <a:spcPts val="0"/>
              </a:spcBef>
              <a:spcAft>
                <a:spcPts val="0"/>
              </a:spcAft>
              <a:buClr>
                <a:schemeClr val="lt1"/>
              </a:buClr>
              <a:buSzPts val="4800"/>
              <a:buNone/>
              <a:defRPr sz="6400">
                <a:solidFill>
                  <a:schemeClr val="lt1"/>
                </a:solidFill>
              </a:defRPr>
            </a:lvl3pPr>
            <a:lvl4pPr lvl="3">
              <a:spcBef>
                <a:spcPts val="0"/>
              </a:spcBef>
              <a:spcAft>
                <a:spcPts val="0"/>
              </a:spcAft>
              <a:buClr>
                <a:schemeClr val="lt1"/>
              </a:buClr>
              <a:buSzPts val="4800"/>
              <a:buNone/>
              <a:defRPr sz="6400">
                <a:solidFill>
                  <a:schemeClr val="lt1"/>
                </a:solidFill>
              </a:defRPr>
            </a:lvl4pPr>
            <a:lvl5pPr lvl="4">
              <a:spcBef>
                <a:spcPts val="0"/>
              </a:spcBef>
              <a:spcAft>
                <a:spcPts val="0"/>
              </a:spcAft>
              <a:buClr>
                <a:schemeClr val="lt1"/>
              </a:buClr>
              <a:buSzPts val="4800"/>
              <a:buNone/>
              <a:defRPr sz="6400">
                <a:solidFill>
                  <a:schemeClr val="lt1"/>
                </a:solidFill>
              </a:defRPr>
            </a:lvl5pPr>
            <a:lvl6pPr lvl="5">
              <a:spcBef>
                <a:spcPts val="0"/>
              </a:spcBef>
              <a:spcAft>
                <a:spcPts val="0"/>
              </a:spcAft>
              <a:buClr>
                <a:schemeClr val="lt1"/>
              </a:buClr>
              <a:buSzPts val="4800"/>
              <a:buNone/>
              <a:defRPr sz="6400">
                <a:solidFill>
                  <a:schemeClr val="lt1"/>
                </a:solidFill>
              </a:defRPr>
            </a:lvl6pPr>
            <a:lvl7pPr lvl="6">
              <a:spcBef>
                <a:spcPts val="0"/>
              </a:spcBef>
              <a:spcAft>
                <a:spcPts val="0"/>
              </a:spcAft>
              <a:buClr>
                <a:schemeClr val="lt1"/>
              </a:buClr>
              <a:buSzPts val="4800"/>
              <a:buNone/>
              <a:defRPr sz="6400">
                <a:solidFill>
                  <a:schemeClr val="lt1"/>
                </a:solidFill>
              </a:defRPr>
            </a:lvl7pPr>
            <a:lvl8pPr lvl="7">
              <a:spcBef>
                <a:spcPts val="0"/>
              </a:spcBef>
              <a:spcAft>
                <a:spcPts val="0"/>
              </a:spcAft>
              <a:buClr>
                <a:schemeClr val="lt1"/>
              </a:buClr>
              <a:buSzPts val="4800"/>
              <a:buNone/>
              <a:defRPr sz="6400">
                <a:solidFill>
                  <a:schemeClr val="lt1"/>
                </a:solidFill>
              </a:defRPr>
            </a:lvl8pPr>
            <a:lvl9pPr lvl="8">
              <a:spcBef>
                <a:spcPts val="0"/>
              </a:spcBef>
              <a:spcAft>
                <a:spcPts val="0"/>
              </a:spcAft>
              <a:buClr>
                <a:schemeClr val="lt1"/>
              </a:buClr>
              <a:buSzPts val="4800"/>
              <a:buNone/>
              <a:defRPr sz="6400">
                <a:solidFill>
                  <a:schemeClr val="lt1"/>
                </a:solidFill>
              </a:defRPr>
            </a:lvl9pPr>
          </a:lstStyle>
          <a:p>
            <a:r>
              <a:rPr lang="en-US"/>
              <a:t>Click to edit Master title style</a:t>
            </a:r>
            <a:endParaRPr/>
          </a:p>
        </p:txBody>
      </p:sp>
      <p:sp>
        <p:nvSpPr>
          <p:cNvPr id="58" name="Google Shape;58;p8"/>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3110981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9"/>
        <p:cNvGrpSpPr/>
        <p:nvPr/>
      </p:nvGrpSpPr>
      <p:grpSpPr>
        <a:xfrm>
          <a:off x="0" y="0"/>
          <a:ext cx="0" cy="0"/>
          <a:chOff x="0" y="0"/>
          <a:chExt cx="0" cy="0"/>
        </a:xfrm>
      </p:grpSpPr>
      <p:sp>
        <p:nvSpPr>
          <p:cNvPr id="60" name="Google Shape;60;p9"/>
          <p:cNvSpPr/>
          <p:nvPr/>
        </p:nvSpPr>
        <p:spPr>
          <a:xfrm>
            <a:off x="6096000" y="-233"/>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61" name="Google Shape;61;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62" name="Google Shape;62;p9"/>
          <p:cNvSpPr txBox="1">
            <a:spLocks noGrp="1"/>
          </p:cNvSpPr>
          <p:nvPr>
            <p:ph type="title"/>
          </p:nvPr>
        </p:nvSpPr>
        <p:spPr>
          <a:xfrm>
            <a:off x="354000" y="1534800"/>
            <a:ext cx="5393600" cy="20860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63" name="Google Shape;63;p9"/>
          <p:cNvSpPr txBox="1">
            <a:spLocks noGrp="1"/>
          </p:cNvSpPr>
          <p:nvPr>
            <p:ph type="subTitle" idx="1"/>
          </p:nvPr>
        </p:nvSpPr>
        <p:spPr>
          <a:xfrm>
            <a:off x="354000" y="3692001"/>
            <a:ext cx="5393600" cy="1692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64" name="Google Shape;64;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65" name="Google Shape;65;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27113261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6"/>
        <p:cNvGrpSpPr/>
        <p:nvPr/>
      </p:nvGrpSpPr>
      <p:grpSpPr>
        <a:xfrm>
          <a:off x="0" y="0"/>
          <a:ext cx="0" cy="0"/>
          <a:chOff x="0" y="0"/>
          <a:chExt cx="0" cy="0"/>
        </a:xfrm>
      </p:grpSpPr>
      <p:sp>
        <p:nvSpPr>
          <p:cNvPr id="67" name="Google Shape;67;p10"/>
          <p:cNvSpPr txBox="1">
            <a:spLocks noGrp="1"/>
          </p:cNvSpPr>
          <p:nvPr>
            <p:ph type="body" idx="1"/>
          </p:nvPr>
        </p:nvSpPr>
        <p:spPr>
          <a:xfrm>
            <a:off x="426000" y="5640767"/>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pPr lvl="0"/>
            <a:r>
              <a:rPr lang="en-US"/>
              <a:t>Click to edit Master text styles</a:t>
            </a:r>
          </a:p>
        </p:txBody>
      </p:sp>
      <p:sp>
        <p:nvSpPr>
          <p:cNvPr id="68" name="Google Shape;68;p10"/>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1113286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69"/>
        <p:cNvGrpSpPr/>
        <p:nvPr/>
      </p:nvGrpSpPr>
      <p:grpSpPr>
        <a:xfrm>
          <a:off x="0" y="0"/>
          <a:ext cx="0" cy="0"/>
          <a:chOff x="0" y="0"/>
          <a:chExt cx="0" cy="0"/>
        </a:xfrm>
      </p:grpSpPr>
      <p:grpSp>
        <p:nvGrpSpPr>
          <p:cNvPr id="70" name="Google Shape;70;p11"/>
          <p:cNvGrpSpPr/>
          <p:nvPr/>
        </p:nvGrpSpPr>
        <p:grpSpPr>
          <a:xfrm>
            <a:off x="8131172" y="7"/>
            <a:ext cx="4060833" cy="2707427"/>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11"/>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11"/>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6" name="Google Shape;76;p11"/>
          <p:cNvSpPr txBox="1">
            <a:spLocks noGrp="1"/>
          </p:cNvSpPr>
          <p:nvPr>
            <p:ph type="title" hasCustomPrompt="1"/>
          </p:nvPr>
        </p:nvSpPr>
        <p:spPr>
          <a:xfrm>
            <a:off x="415600" y="1674733"/>
            <a:ext cx="11360800" cy="2707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12000"/>
              <a:buNone/>
              <a:defRPr sz="16000">
                <a:solidFill>
                  <a:schemeClr val="lt1"/>
                </a:solidFill>
              </a:defRPr>
            </a:lvl1pPr>
            <a:lvl2pPr lvl="1" algn="ctr">
              <a:spcBef>
                <a:spcPts val="0"/>
              </a:spcBef>
              <a:spcAft>
                <a:spcPts val="0"/>
              </a:spcAft>
              <a:buClr>
                <a:schemeClr val="lt1"/>
              </a:buClr>
              <a:buSzPts val="12000"/>
              <a:buNone/>
              <a:defRPr sz="16000">
                <a:solidFill>
                  <a:schemeClr val="lt1"/>
                </a:solidFill>
              </a:defRPr>
            </a:lvl2pPr>
            <a:lvl3pPr lvl="2" algn="ctr">
              <a:spcBef>
                <a:spcPts val="0"/>
              </a:spcBef>
              <a:spcAft>
                <a:spcPts val="0"/>
              </a:spcAft>
              <a:buClr>
                <a:schemeClr val="lt1"/>
              </a:buClr>
              <a:buSzPts val="12000"/>
              <a:buNone/>
              <a:defRPr sz="16000">
                <a:solidFill>
                  <a:schemeClr val="lt1"/>
                </a:solidFill>
              </a:defRPr>
            </a:lvl3pPr>
            <a:lvl4pPr lvl="3" algn="ctr">
              <a:spcBef>
                <a:spcPts val="0"/>
              </a:spcBef>
              <a:spcAft>
                <a:spcPts val="0"/>
              </a:spcAft>
              <a:buClr>
                <a:schemeClr val="lt1"/>
              </a:buClr>
              <a:buSzPts val="12000"/>
              <a:buNone/>
              <a:defRPr sz="16000">
                <a:solidFill>
                  <a:schemeClr val="lt1"/>
                </a:solidFill>
              </a:defRPr>
            </a:lvl4pPr>
            <a:lvl5pPr lvl="4" algn="ctr">
              <a:spcBef>
                <a:spcPts val="0"/>
              </a:spcBef>
              <a:spcAft>
                <a:spcPts val="0"/>
              </a:spcAft>
              <a:buClr>
                <a:schemeClr val="lt1"/>
              </a:buClr>
              <a:buSzPts val="12000"/>
              <a:buNone/>
              <a:defRPr sz="16000">
                <a:solidFill>
                  <a:schemeClr val="lt1"/>
                </a:solidFill>
              </a:defRPr>
            </a:lvl5pPr>
            <a:lvl6pPr lvl="5" algn="ctr">
              <a:spcBef>
                <a:spcPts val="0"/>
              </a:spcBef>
              <a:spcAft>
                <a:spcPts val="0"/>
              </a:spcAft>
              <a:buClr>
                <a:schemeClr val="lt1"/>
              </a:buClr>
              <a:buSzPts val="12000"/>
              <a:buNone/>
              <a:defRPr sz="16000">
                <a:solidFill>
                  <a:schemeClr val="lt1"/>
                </a:solidFill>
              </a:defRPr>
            </a:lvl6pPr>
            <a:lvl7pPr lvl="6" algn="ctr">
              <a:spcBef>
                <a:spcPts val="0"/>
              </a:spcBef>
              <a:spcAft>
                <a:spcPts val="0"/>
              </a:spcAft>
              <a:buClr>
                <a:schemeClr val="lt1"/>
              </a:buClr>
              <a:buSzPts val="12000"/>
              <a:buNone/>
              <a:defRPr sz="16000">
                <a:solidFill>
                  <a:schemeClr val="lt1"/>
                </a:solidFill>
              </a:defRPr>
            </a:lvl7pPr>
            <a:lvl8pPr lvl="7" algn="ctr">
              <a:spcBef>
                <a:spcPts val="0"/>
              </a:spcBef>
              <a:spcAft>
                <a:spcPts val="0"/>
              </a:spcAft>
              <a:buClr>
                <a:schemeClr val="lt1"/>
              </a:buClr>
              <a:buSzPts val="12000"/>
              <a:buNone/>
              <a:defRPr sz="16000">
                <a:solidFill>
                  <a:schemeClr val="lt1"/>
                </a:solidFill>
              </a:defRPr>
            </a:lvl8pPr>
            <a:lvl9pPr lvl="8" algn="ctr">
              <a:spcBef>
                <a:spcPts val="0"/>
              </a:spcBef>
              <a:spcAft>
                <a:spcPts val="0"/>
              </a:spcAft>
              <a:buClr>
                <a:schemeClr val="lt1"/>
              </a:buClr>
              <a:buSzPts val="12000"/>
              <a:buNone/>
              <a:defRPr sz="16000">
                <a:solidFill>
                  <a:schemeClr val="lt1"/>
                </a:solidFill>
              </a:defRPr>
            </a:lvl9pPr>
          </a:lstStyle>
          <a:p>
            <a:r>
              <a:t>xx%</a:t>
            </a:r>
          </a:p>
        </p:txBody>
      </p:sp>
      <p:sp>
        <p:nvSpPr>
          <p:cNvPr id="77" name="Google Shape;77;p11"/>
          <p:cNvSpPr txBox="1">
            <a:spLocks noGrp="1"/>
          </p:cNvSpPr>
          <p:nvPr>
            <p:ph type="body" idx="1"/>
          </p:nvPr>
        </p:nvSpPr>
        <p:spPr>
          <a:xfrm>
            <a:off x="415600" y="4492300"/>
            <a:ext cx="11360800" cy="17092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Clr>
                <a:schemeClr val="lt1"/>
              </a:buClr>
              <a:buSzPts val="1800"/>
              <a:buChar char="●"/>
              <a:defRPr>
                <a:solidFill>
                  <a:schemeClr val="lt1"/>
                </a:solidFill>
              </a:defRPr>
            </a:lvl1pPr>
            <a:lvl2pPr marL="1219170" lvl="1" indent="-423323" algn="ctr">
              <a:spcBef>
                <a:spcPts val="0"/>
              </a:spcBef>
              <a:spcAft>
                <a:spcPts val="0"/>
              </a:spcAft>
              <a:buClr>
                <a:schemeClr val="lt1"/>
              </a:buClr>
              <a:buSzPts val="1400"/>
              <a:buChar char="○"/>
              <a:defRPr>
                <a:solidFill>
                  <a:schemeClr val="lt1"/>
                </a:solidFill>
              </a:defRPr>
            </a:lvl2pPr>
            <a:lvl3pPr marL="1828754" lvl="2" indent="-423323" algn="ctr">
              <a:spcBef>
                <a:spcPts val="0"/>
              </a:spcBef>
              <a:spcAft>
                <a:spcPts val="0"/>
              </a:spcAft>
              <a:buClr>
                <a:schemeClr val="lt1"/>
              </a:buClr>
              <a:buSzPts val="1400"/>
              <a:buChar char="■"/>
              <a:defRPr>
                <a:solidFill>
                  <a:schemeClr val="lt1"/>
                </a:solidFill>
              </a:defRPr>
            </a:lvl3pPr>
            <a:lvl4pPr marL="2438339" lvl="3" indent="-423323" algn="ctr">
              <a:spcBef>
                <a:spcPts val="0"/>
              </a:spcBef>
              <a:spcAft>
                <a:spcPts val="0"/>
              </a:spcAft>
              <a:buClr>
                <a:schemeClr val="lt1"/>
              </a:buClr>
              <a:buSzPts val="1400"/>
              <a:buChar char="●"/>
              <a:defRPr>
                <a:solidFill>
                  <a:schemeClr val="lt1"/>
                </a:solidFill>
              </a:defRPr>
            </a:lvl4pPr>
            <a:lvl5pPr marL="3047924" lvl="4" indent="-423323" algn="ctr">
              <a:spcBef>
                <a:spcPts val="0"/>
              </a:spcBef>
              <a:spcAft>
                <a:spcPts val="0"/>
              </a:spcAft>
              <a:buClr>
                <a:schemeClr val="lt1"/>
              </a:buClr>
              <a:buSzPts val="1400"/>
              <a:buChar char="○"/>
              <a:defRPr>
                <a:solidFill>
                  <a:schemeClr val="lt1"/>
                </a:solidFill>
              </a:defRPr>
            </a:lvl5pPr>
            <a:lvl6pPr marL="3657509" lvl="5" indent="-423323" algn="ctr">
              <a:spcBef>
                <a:spcPts val="0"/>
              </a:spcBef>
              <a:spcAft>
                <a:spcPts val="0"/>
              </a:spcAft>
              <a:buClr>
                <a:schemeClr val="lt1"/>
              </a:buClr>
              <a:buSzPts val="1400"/>
              <a:buChar char="■"/>
              <a:defRPr>
                <a:solidFill>
                  <a:schemeClr val="lt1"/>
                </a:solidFill>
              </a:defRPr>
            </a:lvl6pPr>
            <a:lvl7pPr marL="4267093" lvl="6" indent="-423323" algn="ctr">
              <a:spcBef>
                <a:spcPts val="0"/>
              </a:spcBef>
              <a:spcAft>
                <a:spcPts val="0"/>
              </a:spcAft>
              <a:buClr>
                <a:schemeClr val="lt1"/>
              </a:buClr>
              <a:buSzPts val="1400"/>
              <a:buChar char="●"/>
              <a:defRPr>
                <a:solidFill>
                  <a:schemeClr val="lt1"/>
                </a:solidFill>
              </a:defRPr>
            </a:lvl7pPr>
            <a:lvl8pPr marL="4876678" lvl="7" indent="-423323" algn="ctr">
              <a:spcBef>
                <a:spcPts val="0"/>
              </a:spcBef>
              <a:spcAft>
                <a:spcPts val="0"/>
              </a:spcAft>
              <a:buClr>
                <a:schemeClr val="lt1"/>
              </a:buClr>
              <a:buSzPts val="1400"/>
              <a:buChar char="○"/>
              <a:defRPr>
                <a:solidFill>
                  <a:schemeClr val="lt1"/>
                </a:solidFill>
              </a:defRPr>
            </a:lvl8pPr>
            <a:lvl9pPr marL="5486263" lvl="8" indent="-423323" algn="ctr">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78" name="Google Shape;78;p11"/>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2547095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1261950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19"/>
        <p:cNvGrpSpPr/>
        <p:nvPr/>
      </p:nvGrpSpPr>
      <p:grpSpPr>
        <a:xfrm>
          <a:off x="0" y="0"/>
          <a:ext cx="0" cy="0"/>
          <a:chOff x="0" y="0"/>
          <a:chExt cx="0" cy="0"/>
        </a:xfrm>
      </p:grpSpPr>
      <p:grpSp>
        <p:nvGrpSpPr>
          <p:cNvPr id="20" name="Google Shape;20;p3"/>
          <p:cNvGrpSpPr/>
          <p:nvPr/>
        </p:nvGrpSpPr>
        <p:grpSpPr>
          <a:xfrm>
            <a:off x="8131172" y="7"/>
            <a:ext cx="4060833" cy="2707427"/>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 name="Google Shape;26;p3"/>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t>Click to edit Master title style</a:t>
            </a:r>
            <a:endParaRPr/>
          </a:p>
        </p:txBody>
      </p:sp>
      <p:sp>
        <p:nvSpPr>
          <p:cNvPr id="27" name="Google Shape;27;p3"/>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3418960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fld id="{FBDF90CD-9765-43D6-8675-838521FD8B47}" type="slidenum">
              <a:rPr lang="en-IN" smtClean="0"/>
              <a:t>‹#›</a:t>
            </a:fld>
            <a:endParaRPr lang="en-IN"/>
          </a:p>
        </p:txBody>
      </p:sp>
    </p:spTree>
    <p:extLst>
      <p:ext uri="{BB962C8B-B14F-4D97-AF65-F5344CB8AC3E}">
        <p14:creationId xmlns:p14="http://schemas.microsoft.com/office/powerpoint/2010/main" val="179429178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computersciencejournals.com/ijcit/archives/2023.v4.i1.A.53" TargetMode="External"/><Relationship Id="rId2" Type="http://schemas.openxmlformats.org/officeDocument/2006/relationships/hyperlink" Target="https://iopscience.iop.org/article/10.1149/10701.7427ecst" TargetMode="External"/><Relationship Id="rId1" Type="http://schemas.openxmlformats.org/officeDocument/2006/relationships/slideLayout" Target="../slideLayouts/slideLayout2.xml"/><Relationship Id="rId5" Type="http://schemas.openxmlformats.org/officeDocument/2006/relationships/hyperlink" Target="https://www.researchgate.net/publication/355981248_DigiVote_Voting_System_Using_Blockchain" TargetMode="External"/><Relationship Id="rId4" Type="http://schemas.openxmlformats.org/officeDocument/2006/relationships/hyperlink" Target="https://www.ijert.org/research/voting-and-election-system-using-blockchain-technology-IJERTV12IS040084.pdf"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447373" y="1635463"/>
            <a:ext cx="10982633" cy="2163168"/>
          </a:xfrm>
          <a:prstGeom prst="rect">
            <a:avLst/>
          </a:prstGeom>
        </p:spPr>
        <p:txBody>
          <a:bodyPr spcFirstLastPara="1" wrap="square" lIns="121900" tIns="121900" rIns="121900" bIns="121900" anchor="b" anchorCtr="0">
            <a:noAutofit/>
          </a:bodyPr>
          <a:lstStyle/>
          <a:p>
            <a:pPr algn="ctr">
              <a:buSzPts val="990"/>
            </a:pP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GB" sz="2400" b="1" dirty="0"/>
            </a:br>
            <a:br>
              <a:rPr lang="en-US" sz="4800" b="1" spc="-67" dirty="0">
                <a:latin typeface="Times New Roman"/>
                <a:cs typeface="Times New Roman"/>
              </a:rPr>
            </a:br>
            <a:r>
              <a:rPr lang="en-US" sz="2667" b="1" spc="-67" dirty="0">
                <a:latin typeface="Times New Roman"/>
                <a:cs typeface="Times New Roman"/>
              </a:rPr>
              <a:t>Major Project : Demonstration –Phase 2  </a:t>
            </a:r>
            <a:br>
              <a:rPr lang="en-US" sz="2667" b="1" spc="-67" dirty="0">
                <a:latin typeface="Times New Roman"/>
                <a:cs typeface="Times New Roman"/>
              </a:rPr>
            </a:br>
            <a:r>
              <a:rPr lang="en-US" sz="2667" b="1" spc="-67" dirty="0">
                <a:latin typeface="Times New Roman"/>
                <a:cs typeface="Times New Roman"/>
              </a:rPr>
              <a:t>on</a:t>
            </a:r>
            <a:br>
              <a:rPr lang="en-US" sz="4800" b="1" spc="-67" dirty="0">
                <a:latin typeface="Times New Roman"/>
                <a:cs typeface="Times New Roman"/>
              </a:rPr>
            </a:br>
            <a:r>
              <a:rPr lang="en-US" sz="3200" spc="-67" dirty="0">
                <a:solidFill>
                  <a:schemeClr val="bg1"/>
                </a:solidFill>
                <a:latin typeface="Algerian" panose="04020705040A02060702" pitchFamily="82" charset="0"/>
                <a:cs typeface="Times New Roman"/>
              </a:rPr>
              <a:t>“IBALLOT : DECENTRALIZED VOTING SYSTEM USING BLOCKCHAIN”</a:t>
            </a:r>
            <a:br>
              <a:rPr lang="en-GB" sz="4267" dirty="0"/>
            </a:br>
            <a:r>
              <a:rPr lang="en-GB" sz="1867" b="1" dirty="0">
                <a:latin typeface="Times New Roman" panose="02020603050405020304" pitchFamily="18" charset="0"/>
                <a:ea typeface="Roboto" panose="02000000000000000000" pitchFamily="2" charset="0"/>
                <a:cs typeface="Times New Roman" panose="02020603050405020304" pitchFamily="18" charset="0"/>
              </a:rPr>
              <a:t>GROUP NUMBER: MPG-02</a:t>
            </a:r>
            <a:r>
              <a:rPr lang="en-GB" sz="1867" b="1" dirty="0">
                <a:latin typeface="Times New Roman" panose="02020603050405020304" pitchFamily="18" charset="0"/>
                <a:cs typeface="Times New Roman" panose="02020603050405020304" pitchFamily="18" charset="0"/>
              </a:rPr>
              <a:t>                        </a:t>
            </a:r>
            <a:endParaRPr sz="1867" b="1" dirty="0">
              <a:latin typeface="Times New Roman" panose="02020603050405020304" pitchFamily="18" charset="0"/>
              <a:cs typeface="Times New Roman" panose="02020603050405020304" pitchFamily="18" charset="0"/>
            </a:endParaRPr>
          </a:p>
        </p:txBody>
      </p:sp>
      <p:sp>
        <p:nvSpPr>
          <p:cNvPr id="86" name="Google Shape;86;p13"/>
          <p:cNvSpPr txBox="1">
            <a:spLocks noGrp="1"/>
          </p:cNvSpPr>
          <p:nvPr>
            <p:ph type="subTitle" idx="1"/>
          </p:nvPr>
        </p:nvSpPr>
        <p:spPr>
          <a:xfrm>
            <a:off x="-1566988" y="7089573"/>
            <a:ext cx="11403304" cy="2334084"/>
          </a:xfrm>
          <a:prstGeom prst="rect">
            <a:avLst/>
          </a:prstGeom>
        </p:spPr>
        <p:txBody>
          <a:bodyPr spcFirstLastPara="1" wrap="square" lIns="121900" tIns="121900" rIns="121900" bIns="121900" anchor="t" anchorCtr="0">
            <a:noAutofit/>
          </a:bodyPr>
          <a:lstStyle/>
          <a:p>
            <a:pPr marL="0" indent="0"/>
            <a:r>
              <a:rPr lang="en-GB" sz="1867" dirty="0">
                <a:latin typeface="Times New Roman" panose="02020603050405020304" pitchFamily="18" charset="0"/>
                <a:cs typeface="Times New Roman" panose="02020603050405020304" pitchFamily="18" charset="0"/>
              </a:rPr>
              <a:t>	</a:t>
            </a:r>
            <a:endParaRPr sz="1867" dirty="0">
              <a:latin typeface="Times New Roman" panose="02020603050405020304" pitchFamily="18" charset="0"/>
              <a:cs typeface="Times New Roman" panose="02020603050405020304" pitchFamily="18" charset="0"/>
            </a:endParaRPr>
          </a:p>
        </p:txBody>
      </p:sp>
      <p:pic>
        <p:nvPicPr>
          <p:cNvPr id="87" name="Google Shape;87;p13"/>
          <p:cNvPicPr preferRelativeResize="0"/>
          <p:nvPr/>
        </p:nvPicPr>
        <p:blipFill>
          <a:blip r:embed="rId3">
            <a:alphaModFix/>
          </a:blip>
          <a:stretch>
            <a:fillRect/>
          </a:stretch>
        </p:blipFill>
        <p:spPr>
          <a:xfrm>
            <a:off x="447373" y="22991"/>
            <a:ext cx="1802967" cy="1842167"/>
          </a:xfrm>
          <a:prstGeom prst="rect">
            <a:avLst/>
          </a:prstGeom>
          <a:noFill/>
          <a:ln>
            <a:noFill/>
          </a:ln>
        </p:spPr>
      </p:pic>
      <p:pic>
        <p:nvPicPr>
          <p:cNvPr id="88" name="Google Shape;88;p13"/>
          <p:cNvPicPr preferRelativeResize="0"/>
          <p:nvPr/>
        </p:nvPicPr>
        <p:blipFill>
          <a:blip r:embed="rId4">
            <a:alphaModFix/>
          </a:blip>
          <a:stretch>
            <a:fillRect/>
          </a:stretch>
        </p:blipFill>
        <p:spPr>
          <a:xfrm>
            <a:off x="9836316" y="-69345"/>
            <a:ext cx="2229821" cy="2163167"/>
          </a:xfrm>
          <a:prstGeom prst="rect">
            <a:avLst/>
          </a:prstGeom>
          <a:noFill/>
          <a:ln>
            <a:noFill/>
          </a:ln>
        </p:spPr>
      </p:pic>
      <p:sp>
        <p:nvSpPr>
          <p:cNvPr id="89" name="Google Shape;89;p13"/>
          <p:cNvSpPr txBox="1"/>
          <p:nvPr/>
        </p:nvSpPr>
        <p:spPr>
          <a:xfrm>
            <a:off x="2448695" y="46117"/>
            <a:ext cx="6630400" cy="1337600"/>
          </a:xfrm>
          <a:prstGeom prst="rect">
            <a:avLst/>
          </a:prstGeom>
          <a:noFill/>
          <a:ln>
            <a:noFill/>
          </a:ln>
        </p:spPr>
        <p:txBody>
          <a:bodyPr spcFirstLastPara="1" wrap="square" lIns="121900" tIns="121900" rIns="121900" bIns="121900" anchor="t" anchorCtr="0">
            <a:noAutofit/>
          </a:bodyPr>
          <a:lstStyle/>
          <a:p>
            <a:pPr algn="ctr"/>
            <a:r>
              <a:rPr lang="en-GB"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rPr>
              <a:t>Dept. of CS&amp;E ( DATA SCIENCE)</a:t>
            </a:r>
            <a:endParaRPr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endParaRPr>
          </a:p>
          <a:p>
            <a:pPr algn="ctr"/>
            <a:r>
              <a:rPr lang="en-GB" sz="2400" b="1" dirty="0" err="1">
                <a:solidFill>
                  <a:schemeClr val="bg1">
                    <a:lumMod val="95000"/>
                  </a:schemeClr>
                </a:solidFill>
                <a:latin typeface="Times New Roman" panose="02020603050405020304" pitchFamily="18" charset="0"/>
                <a:ea typeface="Roboto"/>
                <a:cs typeface="Times New Roman" panose="02020603050405020304" pitchFamily="18" charset="0"/>
                <a:sym typeface="Roboto"/>
              </a:rPr>
              <a:t>Adichunchanagiri</a:t>
            </a:r>
            <a:r>
              <a:rPr lang="en-GB"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rPr>
              <a:t> Institute of Technology</a:t>
            </a:r>
            <a:endParaRPr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endParaRPr>
          </a:p>
          <a:p>
            <a:pPr algn="ctr"/>
            <a:r>
              <a:rPr lang="en-GB" sz="2400" b="1" dirty="0" err="1">
                <a:solidFill>
                  <a:schemeClr val="bg1">
                    <a:lumMod val="95000"/>
                  </a:schemeClr>
                </a:solidFill>
                <a:latin typeface="Times New Roman" panose="02020603050405020304" pitchFamily="18" charset="0"/>
                <a:ea typeface="Roboto"/>
                <a:cs typeface="Times New Roman" panose="02020603050405020304" pitchFamily="18" charset="0"/>
                <a:sym typeface="Roboto"/>
              </a:rPr>
              <a:t>Chikkamagaluru</a:t>
            </a:r>
            <a:r>
              <a:rPr lang="en-GB"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rPr>
              <a:t> - 577102</a:t>
            </a:r>
            <a:endParaRPr sz="2400" b="1" dirty="0">
              <a:solidFill>
                <a:schemeClr val="bg1">
                  <a:lumMod val="95000"/>
                </a:schemeClr>
              </a:solidFill>
              <a:latin typeface="Times New Roman" panose="02020603050405020304" pitchFamily="18" charset="0"/>
              <a:ea typeface="Roboto"/>
              <a:cs typeface="Times New Roman" panose="02020603050405020304" pitchFamily="18" charset="0"/>
              <a:sym typeface="Roboto"/>
            </a:endParaRPr>
          </a:p>
        </p:txBody>
      </p:sp>
      <p:sp>
        <p:nvSpPr>
          <p:cNvPr id="2" name="TextBox 1">
            <a:extLst>
              <a:ext uri="{FF2B5EF4-FFF2-40B4-BE49-F238E27FC236}">
                <a16:creationId xmlns:a16="http://schemas.microsoft.com/office/drawing/2014/main" id="{A1177029-A322-98CD-5E83-32AA3047C6B1}"/>
              </a:ext>
            </a:extLst>
          </p:cNvPr>
          <p:cNvSpPr txBox="1"/>
          <p:nvPr/>
        </p:nvSpPr>
        <p:spPr>
          <a:xfrm>
            <a:off x="447373" y="4421855"/>
            <a:ext cx="5191427" cy="2534733"/>
          </a:xfrm>
          <a:prstGeom prst="rect">
            <a:avLst/>
          </a:prstGeom>
          <a:noFill/>
        </p:spPr>
        <p:txBody>
          <a:bodyPr wrap="square" rtlCol="0">
            <a:spAutoFit/>
          </a:bodyPr>
          <a:lstStyle/>
          <a:p>
            <a:pPr>
              <a:lnSpc>
                <a:spcPct val="150000"/>
              </a:lnSpc>
            </a:pPr>
            <a:r>
              <a:rPr lang="en-US" sz="1867" b="1" dirty="0">
                <a:solidFill>
                  <a:schemeClr val="bg1"/>
                </a:solidFill>
                <a:latin typeface="Times New Roman" panose="02020603050405020304" pitchFamily="18" charset="0"/>
                <a:cs typeface="Times New Roman" panose="02020603050405020304" pitchFamily="18" charset="0"/>
              </a:rPr>
              <a:t>Presented By,</a:t>
            </a:r>
          </a:p>
          <a:p>
            <a:pPr>
              <a:lnSpc>
                <a:spcPct val="150000"/>
              </a:lnSpc>
            </a:pPr>
            <a:r>
              <a:rPr lang="en-US" sz="1867" dirty="0">
                <a:solidFill>
                  <a:schemeClr val="bg1"/>
                </a:solidFill>
                <a:latin typeface="Times New Roman" panose="02020603050405020304" pitchFamily="18" charset="0"/>
                <a:cs typeface="Times New Roman" panose="02020603050405020304" pitchFamily="18" charset="0"/>
              </a:rPr>
              <a:t>CHANDANA M (4AI22CD012)</a:t>
            </a:r>
          </a:p>
          <a:p>
            <a:pPr>
              <a:lnSpc>
                <a:spcPct val="150000"/>
              </a:lnSpc>
            </a:pPr>
            <a:r>
              <a:rPr lang="en-US" sz="1867" dirty="0">
                <a:solidFill>
                  <a:schemeClr val="bg1"/>
                </a:solidFill>
                <a:latin typeface="Times New Roman" panose="02020603050405020304" pitchFamily="18" charset="0"/>
                <a:cs typeface="Times New Roman" panose="02020603050405020304" pitchFamily="18" charset="0"/>
              </a:rPr>
              <a:t>DARSHITH C(4AI22CD015)</a:t>
            </a:r>
          </a:p>
          <a:p>
            <a:pPr>
              <a:lnSpc>
                <a:spcPct val="150000"/>
              </a:lnSpc>
            </a:pPr>
            <a:r>
              <a:rPr lang="en-US" sz="1867" dirty="0">
                <a:solidFill>
                  <a:schemeClr val="bg1"/>
                </a:solidFill>
                <a:latin typeface="Times New Roman" panose="02020603050405020304" pitchFamily="18" charset="0"/>
                <a:cs typeface="Times New Roman" panose="02020603050405020304" pitchFamily="18" charset="0"/>
              </a:rPr>
              <a:t>MADHURA N M  (4AI22CD032)</a:t>
            </a:r>
          </a:p>
          <a:p>
            <a:pPr>
              <a:lnSpc>
                <a:spcPct val="150000"/>
              </a:lnSpc>
            </a:pPr>
            <a:r>
              <a:rPr lang="en-US" sz="1867" dirty="0">
                <a:solidFill>
                  <a:schemeClr val="bg1"/>
                </a:solidFill>
                <a:latin typeface="Times New Roman" panose="02020603050405020304" pitchFamily="18" charset="0"/>
                <a:cs typeface="Times New Roman" panose="02020603050405020304" pitchFamily="18" charset="0"/>
              </a:rPr>
              <a:t>RAO SIDDHARTH SHANKAR (4AI22CD042)</a:t>
            </a:r>
          </a:p>
          <a:p>
            <a:pPr algn="ctr"/>
            <a:endParaRPr lang="en-US" sz="1867"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B8A8DF3-0B2E-5868-16AF-3D6646E8CE88}"/>
              </a:ext>
            </a:extLst>
          </p:cNvPr>
          <p:cNvSpPr txBox="1"/>
          <p:nvPr/>
        </p:nvSpPr>
        <p:spPr>
          <a:xfrm>
            <a:off x="8934635" y="4421855"/>
            <a:ext cx="2657592" cy="666977"/>
          </a:xfrm>
          <a:prstGeom prst="rect">
            <a:avLst/>
          </a:prstGeom>
          <a:noFill/>
        </p:spPr>
        <p:txBody>
          <a:bodyPr wrap="square">
            <a:spAutoFit/>
          </a:bodyPr>
          <a:lstStyle/>
          <a:p>
            <a:r>
              <a:rPr lang="en-US" sz="1867" b="1" dirty="0">
                <a:solidFill>
                  <a:schemeClr val="bg1"/>
                </a:solidFill>
                <a:latin typeface="Times New Roman" panose="02020603050405020304" pitchFamily="18" charset="0"/>
                <a:cs typeface="Times New Roman" panose="02020603050405020304" pitchFamily="18" charset="0"/>
              </a:rPr>
              <a:t>Under the Guidance of</a:t>
            </a:r>
          </a:p>
          <a:p>
            <a:r>
              <a:rPr lang="en-US" sz="1600" dirty="0">
                <a:solidFill>
                  <a:schemeClr val="bg1"/>
                </a:solidFill>
                <a:latin typeface="Times New Roman" panose="02020603050405020304" pitchFamily="18" charset="0"/>
                <a:cs typeface="Times New Roman" panose="02020603050405020304" pitchFamily="18" charset="0"/>
              </a:rPr>
              <a:t>     </a:t>
            </a:r>
            <a:r>
              <a:rPr lang="en-US" sz="1867" dirty="0">
                <a:solidFill>
                  <a:schemeClr val="bg1"/>
                </a:solidFill>
                <a:latin typeface="Times New Roman" panose="02020603050405020304" pitchFamily="18" charset="0"/>
                <a:cs typeface="Times New Roman" panose="02020603050405020304" pitchFamily="18" charset="0"/>
              </a:rPr>
              <a:t>Prof. SHALINI I S</a:t>
            </a:r>
            <a:endParaRPr lang="en-IN" sz="1867"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EDC38-0650-7207-8C60-9EB05D990E20}"/>
              </a:ext>
            </a:extLst>
          </p:cNvPr>
          <p:cNvSpPr>
            <a:spLocks noGrp="1"/>
          </p:cNvSpPr>
          <p:nvPr>
            <p:ph type="title"/>
          </p:nvPr>
        </p:nvSpPr>
        <p:spPr/>
        <p:txBody>
          <a:bodyPr>
            <a:noAutofit/>
          </a:bodyPr>
          <a:lstStyle/>
          <a:p>
            <a:pPr algn="ctr"/>
            <a:r>
              <a:rPr lang="en-IN" sz="4400" dirty="0">
                <a:latin typeface="Algerian" panose="04020705040A02060702" pitchFamily="82" charset="0"/>
                <a:cs typeface="Times New Roman" panose="02020603050405020304" pitchFamily="18" charset="0"/>
              </a:rPr>
              <a:t>ABSTRACT </a:t>
            </a:r>
          </a:p>
        </p:txBody>
      </p:sp>
      <p:sp>
        <p:nvSpPr>
          <p:cNvPr id="3" name="Text Placeholder 2">
            <a:extLst>
              <a:ext uri="{FF2B5EF4-FFF2-40B4-BE49-F238E27FC236}">
                <a16:creationId xmlns:a16="http://schemas.microsoft.com/office/drawing/2014/main" id="{7F6C0840-A9AC-92C5-2683-AF94F7A42E51}"/>
              </a:ext>
            </a:extLst>
          </p:cNvPr>
          <p:cNvSpPr>
            <a:spLocks noGrp="1"/>
          </p:cNvSpPr>
          <p:nvPr>
            <p:ph type="body" idx="1"/>
          </p:nvPr>
        </p:nvSpPr>
        <p:spPr/>
        <p:txBody>
          <a:bodyPr>
            <a:normAutofit/>
          </a:bodyPr>
          <a:lstStyle/>
          <a:p>
            <a:pPr marL="152396" indent="0" algn="just">
              <a:lnSpc>
                <a:spcPct val="150000"/>
              </a:lnSpc>
              <a:buNone/>
            </a:pPr>
            <a:r>
              <a:rPr lang="en-US" sz="2200" b="1" dirty="0">
                <a:latin typeface="Times New Roman" panose="02020603050405020304" pitchFamily="18" charset="0"/>
                <a:cs typeface="Times New Roman" panose="02020603050405020304" pitchFamily="18" charset="0"/>
              </a:rPr>
              <a:t>iBallot </a:t>
            </a:r>
            <a:r>
              <a:rPr lang="en-US" sz="2200" dirty="0">
                <a:latin typeface="Times New Roman" panose="02020603050405020304" pitchFamily="18" charset="0"/>
                <a:cs typeface="Times New Roman" panose="02020603050405020304" pitchFamily="18" charset="0"/>
              </a:rPr>
              <a:t>is a decentralized voting platform that replaces vulnerable centralized servers with the </a:t>
            </a:r>
            <a:r>
              <a:rPr lang="en-US" sz="2200" b="1" dirty="0">
                <a:latin typeface="Times New Roman" panose="02020603050405020304" pitchFamily="18" charset="0"/>
                <a:cs typeface="Times New Roman" panose="02020603050405020304" pitchFamily="18" charset="0"/>
              </a:rPr>
              <a:t>Ethereum Blockchain</a:t>
            </a:r>
            <a:r>
              <a:rPr lang="en-US" sz="2200" dirty="0">
                <a:latin typeface="Times New Roman" panose="02020603050405020304" pitchFamily="18" charset="0"/>
                <a:cs typeface="Times New Roman" panose="02020603050405020304" pitchFamily="18" charset="0"/>
              </a:rPr>
              <a:t>. By integrating </a:t>
            </a:r>
            <a:r>
              <a:rPr lang="en-US" sz="2200" b="1" dirty="0">
                <a:latin typeface="Times New Roman" panose="02020603050405020304" pitchFamily="18" charset="0"/>
                <a:cs typeface="Times New Roman" panose="02020603050405020304" pitchFamily="18" charset="0"/>
              </a:rPr>
              <a:t>DigiLocker </a:t>
            </a:r>
            <a:r>
              <a:rPr lang="en-US" sz="2200" dirty="0">
                <a:latin typeface="Times New Roman" panose="02020603050405020304" pitchFamily="18" charset="0"/>
                <a:cs typeface="Times New Roman" panose="02020603050405020304" pitchFamily="18" charset="0"/>
              </a:rPr>
              <a:t>for identity verification, we enforce a strict </a:t>
            </a:r>
            <a:r>
              <a:rPr lang="en-US" sz="2200" b="1" dirty="0">
                <a:latin typeface="Times New Roman" panose="02020603050405020304" pitchFamily="18" charset="0"/>
                <a:cs typeface="Times New Roman" panose="02020603050405020304" pitchFamily="18" charset="0"/>
              </a:rPr>
              <a:t>"One Person, One Vote" </a:t>
            </a:r>
            <a:r>
              <a:rPr lang="en-US" sz="2200" dirty="0">
                <a:latin typeface="Times New Roman" panose="02020603050405020304" pitchFamily="18" charset="0"/>
                <a:cs typeface="Times New Roman" panose="02020603050405020304" pitchFamily="18" charset="0"/>
              </a:rPr>
              <a:t>rule while preserving voter anonymity. The result is a </a:t>
            </a:r>
            <a:r>
              <a:rPr lang="en-US" sz="2200" b="1" dirty="0">
                <a:latin typeface="Times New Roman" panose="02020603050405020304" pitchFamily="18" charset="0"/>
                <a:cs typeface="Times New Roman" panose="02020603050405020304" pitchFamily="18" charset="0"/>
              </a:rPr>
              <a:t>transparent</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tamper-proof system </a:t>
            </a:r>
            <a:r>
              <a:rPr lang="en-US" sz="2200" dirty="0">
                <a:latin typeface="Times New Roman" panose="02020603050405020304" pitchFamily="18" charset="0"/>
                <a:cs typeface="Times New Roman" panose="02020603050405020304" pitchFamily="18" charset="0"/>
              </a:rPr>
              <a:t>that shifts reliance from human authorities to immutable code, ensuring every vote is counted exactly as cast.</a:t>
            </a:r>
          </a:p>
        </p:txBody>
      </p:sp>
    </p:spTree>
    <p:extLst>
      <p:ext uri="{BB962C8B-B14F-4D97-AF65-F5344CB8AC3E}">
        <p14:creationId xmlns:p14="http://schemas.microsoft.com/office/powerpoint/2010/main" val="497482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0CCB1-4835-C090-E43F-930D815AEBA0}"/>
              </a:ext>
            </a:extLst>
          </p:cNvPr>
          <p:cNvSpPr>
            <a:spLocks noGrp="1"/>
          </p:cNvSpPr>
          <p:nvPr>
            <p:ph type="title"/>
          </p:nvPr>
        </p:nvSpPr>
        <p:spPr>
          <a:xfrm>
            <a:off x="415600" y="155693"/>
            <a:ext cx="11360800" cy="810400"/>
          </a:xfrm>
        </p:spPr>
        <p:txBody>
          <a:bodyPr>
            <a:noAutofit/>
          </a:bodyPr>
          <a:lstStyle/>
          <a:p>
            <a:pPr algn="just"/>
            <a:r>
              <a:rPr lang="en-IN" sz="4400" dirty="0">
                <a:latin typeface="Algerian" panose="04020705040A02060702" pitchFamily="82" charset="0"/>
              </a:rPr>
              <a:t>                     </a:t>
            </a:r>
            <a:r>
              <a:rPr lang="en-IN" sz="4400" dirty="0">
                <a:latin typeface="Algerian" panose="04020705040A02060702" pitchFamily="82" charset="0"/>
                <a:cs typeface="Times New Roman" panose="02020603050405020304" pitchFamily="18" charset="0"/>
              </a:rPr>
              <a:t>       CONTENTS</a:t>
            </a:r>
            <a:endParaRPr lang="en-IN" sz="4400" dirty="0">
              <a:latin typeface="Algerian" panose="04020705040A02060702" pitchFamily="82" charset="0"/>
            </a:endParaRPr>
          </a:p>
        </p:txBody>
      </p:sp>
      <p:sp>
        <p:nvSpPr>
          <p:cNvPr id="3" name="Text Placeholder 2">
            <a:extLst>
              <a:ext uri="{FF2B5EF4-FFF2-40B4-BE49-F238E27FC236}">
                <a16:creationId xmlns:a16="http://schemas.microsoft.com/office/drawing/2014/main" id="{40CC80FE-480A-8B48-E4E6-83973B0E1879}"/>
              </a:ext>
            </a:extLst>
          </p:cNvPr>
          <p:cNvSpPr>
            <a:spLocks noGrp="1"/>
          </p:cNvSpPr>
          <p:nvPr>
            <p:ph type="body" idx="1"/>
          </p:nvPr>
        </p:nvSpPr>
        <p:spPr>
          <a:xfrm>
            <a:off x="415600" y="865471"/>
            <a:ext cx="11360800" cy="5631562"/>
          </a:xfrm>
        </p:spPr>
        <p:txBody>
          <a:bodyPr>
            <a:noAutofit/>
          </a:bodyPr>
          <a:lstStyle/>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Introduction</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Problem </a:t>
            </a:r>
            <a:r>
              <a:rPr lang="en-IN" sz="2400" dirty="0">
                <a:solidFill>
                  <a:schemeClr val="bg2">
                    <a:lumMod val="50000"/>
                  </a:schemeClr>
                </a:solidFill>
                <a:latin typeface="Times New Roman" panose="02020603050405020304" pitchFamily="18" charset="0"/>
                <a:cs typeface="Times New Roman" panose="02020603050405020304" pitchFamily="18" charset="0"/>
              </a:rPr>
              <a:t>Definition</a:t>
            </a:r>
            <a:endParaRPr lang="en-GB" sz="2400" dirty="0">
              <a:solidFill>
                <a:schemeClr val="bg2">
                  <a:lumMod val="50000"/>
                </a:schemeClr>
              </a:solidFill>
              <a:latin typeface="Times New Roman" panose="02020603050405020304" pitchFamily="18" charset="0"/>
              <a:cs typeface="Times New Roman" panose="02020603050405020304" pitchFamily="18" charset="0"/>
            </a:endParaRP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Objectives</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Literature Survey</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System Design</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Software Requirements </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Implementation Details</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Result &amp; Discussion</a:t>
            </a:r>
          </a:p>
          <a:p>
            <a:pPr marL="609596" indent="-457200" algn="just">
              <a:lnSpc>
                <a:spcPct val="150000"/>
              </a:lnSpc>
              <a:buFont typeface="+mj-lt"/>
              <a:buAutoNum type="arabicPeriod"/>
            </a:pPr>
            <a:r>
              <a:rPr lang="en-GB" sz="2400" dirty="0">
                <a:solidFill>
                  <a:schemeClr val="bg2">
                    <a:lumMod val="50000"/>
                  </a:schemeClr>
                </a:solidFill>
                <a:latin typeface="Times New Roman" panose="02020603050405020304" pitchFamily="18" charset="0"/>
                <a:cs typeface="Times New Roman" panose="02020603050405020304" pitchFamily="18" charset="0"/>
              </a:rPr>
              <a:t>Conclusion &amp; Future Enhancements</a:t>
            </a:r>
          </a:p>
          <a:p>
            <a:pPr marL="609596" indent="-457200" algn="just">
              <a:lnSpc>
                <a:spcPct val="150000"/>
              </a:lnSpc>
              <a:buFont typeface="+mj-lt"/>
              <a:buAutoNum type="arabicPeriod"/>
            </a:pPr>
            <a:r>
              <a:rPr lang="en-IN" sz="2400" dirty="0">
                <a:solidFill>
                  <a:schemeClr val="bg2">
                    <a:lumMod val="50000"/>
                  </a:schemeClr>
                </a:solidFill>
                <a:latin typeface="Times New Roman" panose="02020603050405020304" pitchFamily="18" charset="0"/>
                <a:cs typeface="Times New Roman" panose="02020603050405020304" pitchFamily="18" charset="0"/>
              </a:rPr>
              <a:t>References</a:t>
            </a:r>
          </a:p>
          <a:p>
            <a:pPr marL="152396" indent="0">
              <a:buNone/>
            </a:pPr>
            <a:endParaRPr lang="en-IN" dirty="0"/>
          </a:p>
        </p:txBody>
      </p:sp>
    </p:spTree>
    <p:extLst>
      <p:ext uri="{BB962C8B-B14F-4D97-AF65-F5344CB8AC3E}">
        <p14:creationId xmlns:p14="http://schemas.microsoft.com/office/powerpoint/2010/main" val="2339975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17F05-BEC2-90EA-E2A3-1299AEEEA831}"/>
              </a:ext>
            </a:extLst>
          </p:cNvPr>
          <p:cNvSpPr>
            <a:spLocks noGrp="1"/>
          </p:cNvSpPr>
          <p:nvPr>
            <p:ph type="title"/>
          </p:nvPr>
        </p:nvSpPr>
        <p:spPr/>
        <p:txBody>
          <a:bodyPr/>
          <a:lstStyle/>
          <a:p>
            <a:r>
              <a:rPr lang="en-IN" dirty="0"/>
              <a:t>	</a:t>
            </a:r>
          </a:p>
        </p:txBody>
      </p:sp>
      <p:sp>
        <p:nvSpPr>
          <p:cNvPr id="3" name="Text Placeholder 2">
            <a:extLst>
              <a:ext uri="{FF2B5EF4-FFF2-40B4-BE49-F238E27FC236}">
                <a16:creationId xmlns:a16="http://schemas.microsoft.com/office/drawing/2014/main" id="{D5AA7439-A686-3BC5-64AA-B086C71BC096}"/>
              </a:ext>
            </a:extLst>
          </p:cNvPr>
          <p:cNvSpPr>
            <a:spLocks noGrp="1"/>
          </p:cNvSpPr>
          <p:nvPr>
            <p:ph type="body" idx="1"/>
          </p:nvPr>
        </p:nvSpPr>
        <p:spPr/>
        <p:txBody>
          <a:bodyPr>
            <a:normAutofit lnSpcReduction="10000"/>
          </a:bodyPr>
          <a:lstStyle/>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Public trust in elections is declining due to the black-box nature of traditional EVMs and centralized systems.</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Voters have no direct way to verify whether their vote is counted correctly.</a:t>
            </a:r>
          </a:p>
          <a:p>
            <a:pPr algn="just">
              <a:lnSpc>
                <a:spcPct val="150000"/>
              </a:lnSpc>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iBallot</a:t>
            </a:r>
            <a:r>
              <a:rPr lang="en-US" sz="2400" dirty="0">
                <a:latin typeface="Times New Roman" panose="02020603050405020304" pitchFamily="18" charset="0"/>
                <a:cs typeface="Times New Roman" panose="02020603050405020304" pitchFamily="18" charset="0"/>
              </a:rPr>
              <a:t> addresses this by moving the voting process to the Ethereum blockchain.</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Using </a:t>
            </a:r>
            <a:r>
              <a:rPr lang="en-US" sz="2400" dirty="0" err="1">
                <a:latin typeface="Times New Roman" panose="02020603050405020304" pitchFamily="18" charset="0"/>
                <a:cs typeface="Times New Roman" panose="02020603050405020304" pitchFamily="18" charset="0"/>
              </a:rPr>
              <a:t>DigiLocker</a:t>
            </a:r>
            <a:r>
              <a:rPr lang="en-US" sz="2400" dirty="0">
                <a:latin typeface="Times New Roman" panose="02020603050405020304" pitchFamily="18" charset="0"/>
                <a:cs typeface="Times New Roman" panose="02020603050405020304" pitchFamily="18" charset="0"/>
              </a:rPr>
              <a:t>-based authentication, it enables secure, remote, and verifiable voting.</a:t>
            </a:r>
          </a:p>
          <a:p>
            <a:pPr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immutable blockchain ledger ensures transparency, auditability, and tamper resistance.</a:t>
            </a:r>
            <a:endParaRPr lang="en-IN" sz="2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3A4386-0A92-6A6D-B70C-270431B04DB3}"/>
              </a:ext>
            </a:extLst>
          </p:cNvPr>
          <p:cNvSpPr txBox="1"/>
          <p:nvPr/>
        </p:nvSpPr>
        <p:spPr>
          <a:xfrm>
            <a:off x="735496" y="546667"/>
            <a:ext cx="9829800" cy="769441"/>
          </a:xfrm>
          <a:prstGeom prst="rect">
            <a:avLst/>
          </a:prstGeom>
          <a:noFill/>
        </p:spPr>
        <p:txBody>
          <a:bodyPr wrap="square" rtlCol="0">
            <a:spAutoFit/>
          </a:bodyPr>
          <a:lstStyle/>
          <a:p>
            <a:pPr algn="ctr"/>
            <a:r>
              <a:rPr lang="en-IN" sz="4400" dirty="0">
                <a:solidFill>
                  <a:schemeClr val="tx1"/>
                </a:solidFill>
                <a:latin typeface="Algerian" panose="04020705040A02060702" pitchFamily="82" charset="0"/>
              </a:rPr>
              <a:t>INTRODUCTION</a:t>
            </a:r>
          </a:p>
        </p:txBody>
      </p:sp>
    </p:spTree>
    <p:extLst>
      <p:ext uri="{BB962C8B-B14F-4D97-AF65-F5344CB8AC3E}">
        <p14:creationId xmlns:p14="http://schemas.microsoft.com/office/powerpoint/2010/main" val="415162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87354-0B16-E695-01F6-792C71129536}"/>
              </a:ext>
            </a:extLst>
          </p:cNvPr>
          <p:cNvSpPr>
            <a:spLocks noGrp="1"/>
          </p:cNvSpPr>
          <p:nvPr>
            <p:ph type="title"/>
          </p:nvPr>
        </p:nvSpPr>
        <p:spPr/>
        <p:txBody>
          <a:bodyPr>
            <a:noAutofit/>
          </a:bodyPr>
          <a:lstStyle/>
          <a:p>
            <a:pPr algn="ctr"/>
            <a:r>
              <a:rPr lang="en-IN" sz="4400" dirty="0">
                <a:latin typeface="Algerian" panose="04020705040A02060702" pitchFamily="82" charset="0"/>
              </a:rPr>
              <a:t>PROBLEM STATEMENT</a:t>
            </a:r>
          </a:p>
        </p:txBody>
      </p:sp>
      <p:sp>
        <p:nvSpPr>
          <p:cNvPr id="3" name="Text Placeholder 2">
            <a:extLst>
              <a:ext uri="{FF2B5EF4-FFF2-40B4-BE49-F238E27FC236}">
                <a16:creationId xmlns:a16="http://schemas.microsoft.com/office/drawing/2014/main" id="{06961481-504B-3DAA-FB60-9C7A5067538D}"/>
              </a:ext>
            </a:extLst>
          </p:cNvPr>
          <p:cNvSpPr>
            <a:spLocks noGrp="1"/>
          </p:cNvSpPr>
          <p:nvPr>
            <p:ph type="body" idx="1"/>
          </p:nvPr>
        </p:nvSpPr>
        <p:spPr/>
        <p:txBody>
          <a:bodyPr>
            <a:normAutofit/>
          </a:bodyPr>
          <a:lstStyle/>
          <a:p>
            <a:pPr marL="152396" indent="0" algn="just">
              <a:lnSpc>
                <a:spcPct val="150000"/>
              </a:lnSpc>
              <a:buNone/>
            </a:pPr>
            <a:r>
              <a:rPr lang="en-US" sz="2000" dirty="0">
                <a:latin typeface="Times New Roman" panose="02020603050405020304" pitchFamily="18" charset="0"/>
                <a:cs typeface="Times New Roman" panose="02020603050405020304" pitchFamily="18" charset="0"/>
              </a:rPr>
              <a:t>Current electronic voting systems rely on centralized databases that act as a single point of failure. These systems are vulnerable to hacking, internal tampering, and lack a public audit trail, leading to growing skepticism regarding election outcomes. </a:t>
            </a:r>
          </a:p>
          <a:p>
            <a:pPr marL="152396" indent="0" algn="just">
              <a:lnSpc>
                <a:spcPct val="150000"/>
              </a:lnSpc>
              <a:buNone/>
            </a:pPr>
            <a:endParaRPr lang="en-US" sz="2000" dirty="0">
              <a:latin typeface="Times New Roman" panose="02020603050405020304" pitchFamily="18" charset="0"/>
              <a:cs typeface="Times New Roman" panose="02020603050405020304" pitchFamily="18" charset="0"/>
            </a:endParaRPr>
          </a:p>
          <a:p>
            <a:pPr marL="152396" indent="0" algn="just">
              <a:lnSpc>
                <a:spcPct val="150000"/>
              </a:lnSpc>
              <a:buNone/>
            </a:pPr>
            <a:r>
              <a:rPr lang="en-US" sz="2000" dirty="0">
                <a:latin typeface="Times New Roman" panose="02020603050405020304" pitchFamily="18" charset="0"/>
                <a:cs typeface="Times New Roman" panose="02020603050405020304" pitchFamily="18" charset="0"/>
              </a:rPr>
              <a:t>To design and develop a decentralized voting system that eliminates the risk of data alteration by using blockchain technology, while simultaneously solving the issue of voter impersonation through government-verified identity authentication.</a:t>
            </a:r>
          </a:p>
        </p:txBody>
      </p:sp>
    </p:spTree>
    <p:extLst>
      <p:ext uri="{BB962C8B-B14F-4D97-AF65-F5344CB8AC3E}">
        <p14:creationId xmlns:p14="http://schemas.microsoft.com/office/powerpoint/2010/main" val="133136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43947-264E-0E46-D266-946F0594F10D}"/>
              </a:ext>
            </a:extLst>
          </p:cNvPr>
          <p:cNvSpPr>
            <a:spLocks noGrp="1"/>
          </p:cNvSpPr>
          <p:nvPr>
            <p:ph type="title"/>
          </p:nvPr>
        </p:nvSpPr>
        <p:spPr>
          <a:xfrm>
            <a:off x="708918" y="546667"/>
            <a:ext cx="11067482" cy="810400"/>
          </a:xfrm>
        </p:spPr>
        <p:txBody>
          <a:bodyPr>
            <a:noAutofit/>
          </a:bodyPr>
          <a:lstStyle/>
          <a:p>
            <a:pPr algn="ctr"/>
            <a:r>
              <a:rPr lang="en-IN" sz="4400" dirty="0">
                <a:latin typeface="Algerian" panose="04020705040A02060702" pitchFamily="82" charset="0"/>
              </a:rPr>
              <a:t>OBJECTIVES</a:t>
            </a:r>
          </a:p>
        </p:txBody>
      </p:sp>
      <p:sp>
        <p:nvSpPr>
          <p:cNvPr id="3" name="Text Placeholder 2">
            <a:extLst>
              <a:ext uri="{FF2B5EF4-FFF2-40B4-BE49-F238E27FC236}">
                <a16:creationId xmlns:a16="http://schemas.microsoft.com/office/drawing/2014/main" id="{491283BD-8945-7F67-4C56-CD31C341FAE1}"/>
              </a:ext>
            </a:extLst>
          </p:cNvPr>
          <p:cNvSpPr>
            <a:spLocks noGrp="1"/>
          </p:cNvSpPr>
          <p:nvPr>
            <p:ph type="body" idx="1"/>
          </p:nvPr>
        </p:nvSpPr>
        <p:spPr>
          <a:xfrm>
            <a:off x="216818" y="1490746"/>
            <a:ext cx="11360800" cy="4452000"/>
          </a:xfrm>
        </p:spPr>
        <p:txBody>
          <a:bodyPr>
            <a:normAutofit/>
          </a:bodyPr>
          <a:lstStyle/>
          <a:p>
            <a:pPr algn="just">
              <a:lnSpc>
                <a:spcPct val="150000"/>
              </a:lnSpc>
            </a:pPr>
            <a:r>
              <a:rPr lang="en-US" sz="2200" dirty="0">
                <a:latin typeface="Times New Roman" panose="02020603050405020304" pitchFamily="18" charset="0"/>
                <a:cs typeface="Times New Roman" panose="02020603050405020304" pitchFamily="18" charset="0"/>
              </a:rPr>
              <a:t>To develop a decentralized application that prevents vote tampering using </a:t>
            </a:r>
            <a:r>
              <a:rPr lang="en-US" sz="2200" b="1" dirty="0">
                <a:latin typeface="Times New Roman" panose="02020603050405020304" pitchFamily="18" charset="0"/>
                <a:cs typeface="Times New Roman" panose="02020603050405020304" pitchFamily="18" charset="0"/>
              </a:rPr>
              <a:t>Ethereum Smart Contracts.</a:t>
            </a:r>
          </a:p>
          <a:p>
            <a:pPr algn="just">
              <a:lnSpc>
                <a:spcPct val="150000"/>
              </a:lnSpc>
            </a:pPr>
            <a:r>
              <a:rPr lang="en-US" sz="2200" dirty="0">
                <a:latin typeface="Times New Roman" panose="02020603050405020304" pitchFamily="18" charset="0"/>
                <a:cs typeface="Times New Roman" panose="02020603050405020304" pitchFamily="18" charset="0"/>
              </a:rPr>
              <a:t>To implement a secure </a:t>
            </a:r>
            <a:r>
              <a:rPr lang="en-US" sz="2200" b="1" dirty="0">
                <a:latin typeface="Times New Roman" panose="02020603050405020304" pitchFamily="18" charset="0"/>
                <a:cs typeface="Times New Roman" panose="02020603050405020304" pitchFamily="18" charset="0"/>
              </a:rPr>
              <a:t>"Gasless" </a:t>
            </a:r>
            <a:r>
              <a:rPr lang="en-US" sz="2200" dirty="0">
                <a:latin typeface="Times New Roman" panose="02020603050405020304" pitchFamily="18" charset="0"/>
                <a:cs typeface="Times New Roman" panose="02020603050405020304" pitchFamily="18" charset="0"/>
              </a:rPr>
              <a:t>voting mechanism so voters don't need cryptocurrency to participate.</a:t>
            </a:r>
          </a:p>
          <a:p>
            <a:pPr algn="just">
              <a:lnSpc>
                <a:spcPct val="150000"/>
              </a:lnSpc>
            </a:pPr>
            <a:r>
              <a:rPr lang="en-US" sz="2200" dirty="0">
                <a:latin typeface="Times New Roman" panose="02020603050405020304" pitchFamily="18" charset="0"/>
                <a:cs typeface="Times New Roman" panose="02020603050405020304" pitchFamily="18" charset="0"/>
              </a:rPr>
              <a:t>To integrate government-grade identity verification using </a:t>
            </a:r>
            <a:r>
              <a:rPr lang="en-US" sz="2200" b="1" dirty="0">
                <a:latin typeface="Times New Roman" panose="02020603050405020304" pitchFamily="18" charset="0"/>
                <a:cs typeface="Times New Roman" panose="02020603050405020304" pitchFamily="18" charset="0"/>
              </a:rPr>
              <a:t>DigiLocker APIs</a:t>
            </a:r>
            <a:r>
              <a:rPr lang="en-US" sz="2200" dirty="0">
                <a:latin typeface="Times New Roman" panose="02020603050405020304" pitchFamily="18" charset="0"/>
                <a:cs typeface="Times New Roman" panose="02020603050405020304" pitchFamily="18" charset="0"/>
              </a:rPr>
              <a:t>.</a:t>
            </a:r>
          </a:p>
          <a:p>
            <a:pPr algn="just">
              <a:lnSpc>
                <a:spcPct val="150000"/>
              </a:lnSpc>
            </a:pPr>
            <a:r>
              <a:rPr lang="en-US" sz="2200" dirty="0">
                <a:latin typeface="Times New Roman" panose="02020603050405020304" pitchFamily="18" charset="0"/>
                <a:cs typeface="Times New Roman" panose="02020603050405020304" pitchFamily="18" charset="0"/>
              </a:rPr>
              <a:t>To provide </a:t>
            </a:r>
            <a:r>
              <a:rPr lang="en-US" sz="2200" b="1" dirty="0">
                <a:latin typeface="Times New Roman" panose="02020603050405020304" pitchFamily="18" charset="0"/>
                <a:cs typeface="Times New Roman" panose="02020603050405020304" pitchFamily="18" charset="0"/>
              </a:rPr>
              <a:t>a real-time</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tamper-proof</a:t>
            </a:r>
            <a:r>
              <a:rPr lang="en-US" sz="2200" dirty="0">
                <a:latin typeface="Times New Roman" panose="02020603050405020304" pitchFamily="18" charset="0"/>
                <a:cs typeface="Times New Roman" panose="02020603050405020304" pitchFamily="18" charset="0"/>
              </a:rPr>
              <a:t> audit trail for election officials and voters.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1982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FD32A-BC82-EC79-B37B-0C8EDEAC8223}"/>
              </a:ext>
            </a:extLst>
          </p:cNvPr>
          <p:cNvSpPr>
            <a:spLocks noGrp="1"/>
          </p:cNvSpPr>
          <p:nvPr>
            <p:ph type="title"/>
          </p:nvPr>
        </p:nvSpPr>
        <p:spPr>
          <a:xfrm>
            <a:off x="484426" y="0"/>
            <a:ext cx="11360800" cy="1039015"/>
          </a:xfrm>
        </p:spPr>
        <p:txBody>
          <a:bodyPr>
            <a:normAutofit/>
          </a:bodyPr>
          <a:lstStyle/>
          <a:p>
            <a:pPr algn="ctr"/>
            <a:r>
              <a:rPr lang="en-IN" sz="4400" dirty="0">
                <a:latin typeface="Algerian" panose="04020705040A02060702" pitchFamily="82" charset="0"/>
              </a:rPr>
              <a:t>Literature Survey</a:t>
            </a:r>
          </a:p>
        </p:txBody>
      </p:sp>
      <p:graphicFrame>
        <p:nvGraphicFramePr>
          <p:cNvPr id="4" name="Table 3">
            <a:extLst>
              <a:ext uri="{FF2B5EF4-FFF2-40B4-BE49-F238E27FC236}">
                <a16:creationId xmlns:a16="http://schemas.microsoft.com/office/drawing/2014/main" id="{52632AA8-0DC7-4BE6-EA40-309AD013706E}"/>
              </a:ext>
            </a:extLst>
          </p:cNvPr>
          <p:cNvGraphicFramePr>
            <a:graphicFrameLocks noGrp="1"/>
          </p:cNvGraphicFramePr>
          <p:nvPr>
            <p:extLst>
              <p:ext uri="{D42A27DB-BD31-4B8C-83A1-F6EECF244321}">
                <p14:modId xmlns:p14="http://schemas.microsoft.com/office/powerpoint/2010/main" val="3859166120"/>
              </p:ext>
            </p:extLst>
          </p:nvPr>
        </p:nvGraphicFramePr>
        <p:xfrm>
          <a:off x="176980" y="669798"/>
          <a:ext cx="11838040" cy="2759202"/>
        </p:xfrm>
        <a:graphic>
          <a:graphicData uri="http://schemas.openxmlformats.org/drawingml/2006/table">
            <a:tbl>
              <a:tblPr firstRow="1" bandRow="1">
                <a:tableStyleId>{5C22544A-7EE6-4342-B048-85BDC9FD1C3A}</a:tableStyleId>
              </a:tblPr>
              <a:tblGrid>
                <a:gridCol w="2367608">
                  <a:extLst>
                    <a:ext uri="{9D8B030D-6E8A-4147-A177-3AD203B41FA5}">
                      <a16:colId xmlns:a16="http://schemas.microsoft.com/office/drawing/2014/main" val="1218751350"/>
                    </a:ext>
                  </a:extLst>
                </a:gridCol>
                <a:gridCol w="2367608">
                  <a:extLst>
                    <a:ext uri="{9D8B030D-6E8A-4147-A177-3AD203B41FA5}">
                      <a16:colId xmlns:a16="http://schemas.microsoft.com/office/drawing/2014/main" val="2176400345"/>
                    </a:ext>
                  </a:extLst>
                </a:gridCol>
                <a:gridCol w="2367608">
                  <a:extLst>
                    <a:ext uri="{9D8B030D-6E8A-4147-A177-3AD203B41FA5}">
                      <a16:colId xmlns:a16="http://schemas.microsoft.com/office/drawing/2014/main" val="2226202512"/>
                    </a:ext>
                  </a:extLst>
                </a:gridCol>
                <a:gridCol w="2367608">
                  <a:extLst>
                    <a:ext uri="{9D8B030D-6E8A-4147-A177-3AD203B41FA5}">
                      <a16:colId xmlns:a16="http://schemas.microsoft.com/office/drawing/2014/main" val="3128291928"/>
                    </a:ext>
                  </a:extLst>
                </a:gridCol>
                <a:gridCol w="2367608">
                  <a:extLst>
                    <a:ext uri="{9D8B030D-6E8A-4147-A177-3AD203B41FA5}">
                      <a16:colId xmlns:a16="http://schemas.microsoft.com/office/drawing/2014/main" val="155038288"/>
                    </a:ext>
                  </a:extLst>
                </a:gridCol>
              </a:tblGrid>
              <a:tr h="499269">
                <a:tc>
                  <a:txBody>
                    <a:bodyPr/>
                    <a:lstStyle/>
                    <a:p>
                      <a:pPr algn="l">
                        <a:lnSpc>
                          <a:spcPct val="150000"/>
                        </a:lnSpc>
                      </a:pPr>
                      <a:r>
                        <a:rPr lang="en-IN" sz="2200" dirty="0">
                          <a:latin typeface="Times New Roman" panose="02020603050405020304" pitchFamily="18" charset="0"/>
                          <a:cs typeface="Times New Roman" panose="02020603050405020304" pitchFamily="18" charset="0"/>
                        </a:rPr>
                        <a:t>Title</a:t>
                      </a:r>
                    </a:p>
                  </a:txBody>
                  <a:tcPr/>
                </a:tc>
                <a:tc>
                  <a:txBody>
                    <a:bodyPr/>
                    <a:lstStyle/>
                    <a:p>
                      <a:pPr>
                        <a:lnSpc>
                          <a:spcPct val="150000"/>
                        </a:lnSpc>
                      </a:pPr>
                      <a:r>
                        <a:rPr lang="en-IN" sz="2200" dirty="0">
                          <a:latin typeface="Times New Roman" panose="02020603050405020304" pitchFamily="18" charset="0"/>
                          <a:cs typeface="Times New Roman" panose="02020603050405020304" pitchFamily="18" charset="0"/>
                        </a:rPr>
                        <a:t>Authors</a:t>
                      </a:r>
                    </a:p>
                  </a:txBody>
                  <a:tcPr/>
                </a:tc>
                <a:tc>
                  <a:txBody>
                    <a:bodyPr/>
                    <a:lstStyle/>
                    <a:p>
                      <a:pPr>
                        <a:lnSpc>
                          <a:spcPct val="150000"/>
                        </a:lnSpc>
                      </a:pPr>
                      <a:r>
                        <a:rPr lang="en-IN" sz="2200" dirty="0">
                          <a:latin typeface="Times New Roman" panose="02020603050405020304" pitchFamily="18" charset="0"/>
                          <a:cs typeface="Times New Roman" panose="02020603050405020304" pitchFamily="18" charset="0"/>
                        </a:rPr>
                        <a:t>Publications</a:t>
                      </a:r>
                    </a:p>
                  </a:txBody>
                  <a:tcPr/>
                </a:tc>
                <a:tc>
                  <a:txBody>
                    <a:bodyPr/>
                    <a:lstStyle/>
                    <a:p>
                      <a:pPr>
                        <a:lnSpc>
                          <a:spcPct val="150000"/>
                        </a:lnSpc>
                      </a:pPr>
                      <a:r>
                        <a:rPr lang="en-IN" sz="2200" dirty="0">
                          <a:latin typeface="Times New Roman" panose="02020603050405020304" pitchFamily="18" charset="0"/>
                          <a:cs typeface="Times New Roman" panose="02020603050405020304" pitchFamily="18" charset="0"/>
                        </a:rPr>
                        <a:t>Year</a:t>
                      </a:r>
                    </a:p>
                  </a:txBody>
                  <a:tcPr/>
                </a:tc>
                <a:tc>
                  <a:txBody>
                    <a:bodyPr/>
                    <a:lstStyle/>
                    <a:p>
                      <a:pPr>
                        <a:lnSpc>
                          <a:spcPct val="150000"/>
                        </a:lnSpc>
                      </a:pPr>
                      <a:r>
                        <a:rPr lang="en-IN" sz="22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val="3630865008"/>
                  </a:ext>
                </a:extLst>
              </a:tr>
              <a:tr h="2177411">
                <a:tc>
                  <a:txBody>
                    <a:bodyPr/>
                    <a:lstStyle/>
                    <a:p>
                      <a:pPr algn="l">
                        <a:lnSpc>
                          <a:spcPct val="100000"/>
                        </a:lnSpc>
                      </a:pPr>
                      <a:r>
                        <a:rPr lang="en-US" sz="2000" dirty="0">
                          <a:latin typeface="Times New Roman" panose="02020603050405020304" pitchFamily="18" charset="0"/>
                          <a:cs typeface="Times New Roman" panose="02020603050405020304" pitchFamily="18" charset="0"/>
                        </a:rPr>
                        <a:t>DigiVote: Voting System Using Blockchain</a:t>
                      </a:r>
                      <a:endParaRPr lang="en-IN" sz="2000"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IN" sz="2000" dirty="0">
                          <a:latin typeface="Times New Roman" panose="02020603050405020304" pitchFamily="18" charset="0"/>
                          <a:cs typeface="Times New Roman" panose="02020603050405020304" pitchFamily="18" charset="0"/>
                        </a:rPr>
                        <a:t>Subhash Bahadur Thapa, Suraj B, Vijendran K, Vikash Khanna V</a:t>
                      </a:r>
                    </a:p>
                  </a:txBody>
                  <a:tcPr/>
                </a:tc>
                <a:tc>
                  <a:txBody>
                    <a:bodyPr/>
                    <a:lstStyle/>
                    <a:p>
                      <a:pPr>
                        <a:lnSpc>
                          <a:spcPct val="100000"/>
                        </a:lnSpc>
                      </a:pPr>
                      <a:r>
                        <a:rPr lang="en-IN" sz="2000" dirty="0">
                          <a:latin typeface="Times New Roman" panose="02020603050405020304" pitchFamily="18" charset="0"/>
                          <a:cs typeface="Times New Roman" panose="02020603050405020304" pitchFamily="18" charset="0"/>
                        </a:rPr>
                        <a:t>Technical Report (Project Report), Visvesvaraya Technological University</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2021</a:t>
                      </a:r>
                      <a:endParaRPr lang="en-IN" sz="2000"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Developed a tamper-proof web app using Ethereum and PHP for secure remote voting managed by the Election Commission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932888"/>
                  </a:ext>
                </a:extLst>
              </a:tr>
            </a:tbl>
          </a:graphicData>
        </a:graphic>
      </p:graphicFrame>
      <p:graphicFrame>
        <p:nvGraphicFramePr>
          <p:cNvPr id="6" name="Table 5">
            <a:extLst>
              <a:ext uri="{FF2B5EF4-FFF2-40B4-BE49-F238E27FC236}">
                <a16:creationId xmlns:a16="http://schemas.microsoft.com/office/drawing/2014/main" id="{39261345-5B36-0A49-7D8F-219AB2E083CB}"/>
              </a:ext>
            </a:extLst>
          </p:cNvPr>
          <p:cNvGraphicFramePr>
            <a:graphicFrameLocks noGrp="1"/>
          </p:cNvGraphicFramePr>
          <p:nvPr>
            <p:extLst>
              <p:ext uri="{D42A27DB-BD31-4B8C-83A1-F6EECF244321}">
                <p14:modId xmlns:p14="http://schemas.microsoft.com/office/powerpoint/2010/main" val="1630923151"/>
              </p:ext>
            </p:extLst>
          </p:nvPr>
        </p:nvGraphicFramePr>
        <p:xfrm>
          <a:off x="176980" y="3605712"/>
          <a:ext cx="11838040" cy="2936304"/>
        </p:xfrm>
        <a:graphic>
          <a:graphicData uri="http://schemas.openxmlformats.org/drawingml/2006/table">
            <a:tbl>
              <a:tblPr firstRow="1" bandRow="1">
                <a:tableStyleId>{5C22544A-7EE6-4342-B048-85BDC9FD1C3A}</a:tableStyleId>
              </a:tblPr>
              <a:tblGrid>
                <a:gridCol w="2367608">
                  <a:extLst>
                    <a:ext uri="{9D8B030D-6E8A-4147-A177-3AD203B41FA5}">
                      <a16:colId xmlns:a16="http://schemas.microsoft.com/office/drawing/2014/main" val="1208157570"/>
                    </a:ext>
                  </a:extLst>
                </a:gridCol>
                <a:gridCol w="2367608">
                  <a:extLst>
                    <a:ext uri="{9D8B030D-6E8A-4147-A177-3AD203B41FA5}">
                      <a16:colId xmlns:a16="http://schemas.microsoft.com/office/drawing/2014/main" val="1121421684"/>
                    </a:ext>
                  </a:extLst>
                </a:gridCol>
                <a:gridCol w="2367608">
                  <a:extLst>
                    <a:ext uri="{9D8B030D-6E8A-4147-A177-3AD203B41FA5}">
                      <a16:colId xmlns:a16="http://schemas.microsoft.com/office/drawing/2014/main" val="2653737001"/>
                    </a:ext>
                  </a:extLst>
                </a:gridCol>
                <a:gridCol w="2367608">
                  <a:extLst>
                    <a:ext uri="{9D8B030D-6E8A-4147-A177-3AD203B41FA5}">
                      <a16:colId xmlns:a16="http://schemas.microsoft.com/office/drawing/2014/main" val="1444980722"/>
                    </a:ext>
                  </a:extLst>
                </a:gridCol>
                <a:gridCol w="2367608">
                  <a:extLst>
                    <a:ext uri="{9D8B030D-6E8A-4147-A177-3AD203B41FA5}">
                      <a16:colId xmlns:a16="http://schemas.microsoft.com/office/drawing/2014/main" val="3565741150"/>
                    </a:ext>
                  </a:extLst>
                </a:gridCol>
              </a:tblGrid>
              <a:tr h="628749">
                <a:tc>
                  <a:txBody>
                    <a:bodyPr/>
                    <a:lstStyle/>
                    <a:p>
                      <a:r>
                        <a:rPr lang="en-US" sz="2200" dirty="0">
                          <a:latin typeface="Times New Roman" panose="02020603050405020304" pitchFamily="18" charset="0"/>
                          <a:cs typeface="Times New Roman" panose="02020603050405020304" pitchFamily="18" charset="0"/>
                        </a:rPr>
                        <a:t>Title</a:t>
                      </a:r>
                      <a:endParaRPr lang="en-IN"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Authors</a:t>
                      </a:r>
                      <a:endParaRPr lang="en-IN" sz="2200" dirty="0">
                        <a:latin typeface="Times New Roman" panose="02020603050405020304" pitchFamily="18" charset="0"/>
                        <a:cs typeface="Times New Roman" panose="02020603050405020304" pitchFamily="18" charset="0"/>
                      </a:endParaRPr>
                    </a:p>
                  </a:txBody>
                  <a:tcPr/>
                </a:tc>
                <a:tc>
                  <a:txBody>
                    <a:bodyPr/>
                    <a:lstStyle/>
                    <a:p>
                      <a:r>
                        <a:rPr lang="en-IN" sz="2200" dirty="0">
                          <a:latin typeface="Times New Roman" panose="02020603050405020304" pitchFamily="18" charset="0"/>
                          <a:cs typeface="Times New Roman" panose="02020603050405020304" pitchFamily="18" charset="0"/>
                        </a:rPr>
                        <a:t>Publications</a:t>
                      </a:r>
                    </a:p>
                    <a:p>
                      <a:endParaRPr lang="en-IN" dirty="0"/>
                    </a:p>
                  </a:txBody>
                  <a:tcPr/>
                </a:tc>
                <a:tc>
                  <a:txBody>
                    <a:bodyPr/>
                    <a:lstStyle/>
                    <a:p>
                      <a:r>
                        <a:rPr lang="en-US" sz="2200" dirty="0">
                          <a:latin typeface="Times New Roman" panose="02020603050405020304" pitchFamily="18" charset="0"/>
                          <a:cs typeface="Times New Roman" panose="02020603050405020304" pitchFamily="18" charset="0"/>
                        </a:rPr>
                        <a:t>Year</a:t>
                      </a:r>
                      <a:endParaRPr lang="en-IN" sz="2200" dirty="0">
                        <a:latin typeface="Times New Roman" panose="02020603050405020304" pitchFamily="18" charset="0"/>
                        <a:cs typeface="Times New Roman" panose="02020603050405020304" pitchFamily="18" charset="0"/>
                      </a:endParaRPr>
                    </a:p>
                  </a:txBody>
                  <a:tcPr/>
                </a:tc>
                <a:tc>
                  <a:txBody>
                    <a:bodyPr/>
                    <a:lstStyle/>
                    <a:p>
                      <a:r>
                        <a:rPr lang="en-US" sz="2200" dirty="0">
                          <a:latin typeface="Times New Roman" panose="02020603050405020304" pitchFamily="18" charset="0"/>
                          <a:cs typeface="Times New Roman" panose="02020603050405020304" pitchFamily="18" charset="0"/>
                        </a:rPr>
                        <a:t>Outcome</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6899721"/>
                  </a:ext>
                </a:extLst>
              </a:tr>
              <a:tr h="1966909">
                <a:tc>
                  <a:txBody>
                    <a:bodyPr/>
                    <a:lstStyle/>
                    <a:p>
                      <a:r>
                        <a:rPr lang="en-US" sz="2000" dirty="0" err="1">
                          <a:latin typeface="Times New Roman" panose="02020603050405020304" pitchFamily="18" charset="0"/>
                          <a:cs typeface="Times New Roman" panose="02020603050405020304" pitchFamily="18" charset="0"/>
                        </a:rPr>
                        <a:t>DigiVoter</a:t>
                      </a:r>
                      <a:r>
                        <a:rPr lang="en-US" sz="2000" dirty="0">
                          <a:latin typeface="Times New Roman" panose="02020603050405020304" pitchFamily="18" charset="0"/>
                          <a:cs typeface="Times New Roman" panose="02020603050405020304" pitchFamily="18" charset="0"/>
                        </a:rPr>
                        <a:t>: Blockchain Secured Digital Voting Platform with Aadhaar ID Verification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Navamani, T. M., et al.</a:t>
                      </a:r>
                    </a:p>
                  </a:txBody>
                  <a:tcPr/>
                </a:tc>
                <a:tc>
                  <a:txBody>
                    <a:bodyPr/>
                    <a:lstStyle/>
                    <a:p>
                      <a:r>
                        <a:rPr lang="en-US" sz="2000" dirty="0">
                          <a:latin typeface="Times New Roman" panose="02020603050405020304" pitchFamily="18" charset="0"/>
                          <a:cs typeface="Times New Roman" panose="02020603050405020304" pitchFamily="18" charset="0"/>
                        </a:rPr>
                        <a:t>ECS Transactions, The Electrochemical Society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Integrated biometric Aadhaar verification with a Node.js blockchain to prevent double voting and ensure data immutability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18230105"/>
                  </a:ext>
                </a:extLst>
              </a:tr>
            </a:tbl>
          </a:graphicData>
        </a:graphic>
      </p:graphicFrame>
    </p:spTree>
    <p:extLst>
      <p:ext uri="{BB962C8B-B14F-4D97-AF65-F5344CB8AC3E}">
        <p14:creationId xmlns:p14="http://schemas.microsoft.com/office/powerpoint/2010/main" val="3122312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C32A-3DFE-CCE8-8E9D-35FE74F8127C}"/>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8E61252F-5961-2C05-1E2B-6557A0FC36C9}"/>
              </a:ext>
            </a:extLst>
          </p:cNvPr>
          <p:cNvGraphicFramePr>
            <a:graphicFrameLocks noGrp="1"/>
          </p:cNvGraphicFramePr>
          <p:nvPr>
            <p:extLst>
              <p:ext uri="{D42A27DB-BD31-4B8C-83A1-F6EECF244321}">
                <p14:modId xmlns:p14="http://schemas.microsoft.com/office/powerpoint/2010/main" val="766157488"/>
              </p:ext>
            </p:extLst>
          </p:nvPr>
        </p:nvGraphicFramePr>
        <p:xfrm>
          <a:off x="0" y="3429000"/>
          <a:ext cx="12191999" cy="2636901"/>
        </p:xfrm>
        <a:graphic>
          <a:graphicData uri="http://schemas.openxmlformats.org/drawingml/2006/table">
            <a:tbl>
              <a:tblPr firstRow="1" bandRow="1"/>
              <a:tblGrid>
                <a:gridCol w="2416555">
                  <a:extLst>
                    <a:ext uri="{9D8B030D-6E8A-4147-A177-3AD203B41FA5}">
                      <a16:colId xmlns:a16="http://schemas.microsoft.com/office/drawing/2014/main" val="2341077986"/>
                    </a:ext>
                  </a:extLst>
                </a:gridCol>
                <a:gridCol w="2443861">
                  <a:extLst>
                    <a:ext uri="{9D8B030D-6E8A-4147-A177-3AD203B41FA5}">
                      <a16:colId xmlns:a16="http://schemas.microsoft.com/office/drawing/2014/main" val="3481265759"/>
                    </a:ext>
                  </a:extLst>
                </a:gridCol>
                <a:gridCol w="2443861">
                  <a:extLst>
                    <a:ext uri="{9D8B030D-6E8A-4147-A177-3AD203B41FA5}">
                      <a16:colId xmlns:a16="http://schemas.microsoft.com/office/drawing/2014/main" val="403793517"/>
                    </a:ext>
                  </a:extLst>
                </a:gridCol>
                <a:gridCol w="2443861">
                  <a:extLst>
                    <a:ext uri="{9D8B030D-6E8A-4147-A177-3AD203B41FA5}">
                      <a16:colId xmlns:a16="http://schemas.microsoft.com/office/drawing/2014/main" val="2672961621"/>
                    </a:ext>
                  </a:extLst>
                </a:gridCol>
                <a:gridCol w="2443861">
                  <a:extLst>
                    <a:ext uri="{9D8B030D-6E8A-4147-A177-3AD203B41FA5}">
                      <a16:colId xmlns:a16="http://schemas.microsoft.com/office/drawing/2014/main" val="2118848845"/>
                    </a:ext>
                  </a:extLst>
                </a:gridCol>
              </a:tblGrid>
              <a:tr h="411861">
                <a:tc>
                  <a:txBody>
                    <a:bodyPr/>
                    <a:lstStyle/>
                    <a:p>
                      <a:pPr marR="0" algn="l" rtl="0" eaLnBrk="1" fontAlgn="t" hangingPunct="1">
                        <a:buNone/>
                      </a:pPr>
                      <a:r>
                        <a:rPr lang="en-US" sz="2000" b="1" i="0" u="none" strike="noStrike">
                          <a:solidFill>
                            <a:srgbClr val="FFFFFF"/>
                          </a:solidFill>
                          <a:effectLst/>
                          <a:latin typeface="Times New Roman" panose="02020603050405020304" pitchFamily="18" charset="0"/>
                          <a:cs typeface="Times New Roman" panose="02020603050405020304" pitchFamily="18" charset="0"/>
                        </a:rPr>
                        <a:t>Title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a:solidFill>
                            <a:srgbClr val="FFFFFF"/>
                          </a:solidFill>
                          <a:effectLst/>
                          <a:latin typeface="Times New Roman" panose="02020603050405020304" pitchFamily="18" charset="0"/>
                          <a:cs typeface="Times New Roman" panose="02020603050405020304" pitchFamily="18" charset="0"/>
                        </a:rPr>
                        <a:t>Authors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a:solidFill>
                            <a:srgbClr val="FFFFFF"/>
                          </a:solidFill>
                          <a:effectLst/>
                          <a:latin typeface="Times New Roman" panose="02020603050405020304" pitchFamily="18" charset="0"/>
                          <a:cs typeface="Times New Roman" panose="02020603050405020304" pitchFamily="18" charset="0"/>
                        </a:rPr>
                        <a:t>Publications</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a:solidFill>
                            <a:srgbClr val="FFFFFF"/>
                          </a:solidFill>
                          <a:effectLst/>
                          <a:latin typeface="Times New Roman" panose="02020603050405020304" pitchFamily="18" charset="0"/>
                          <a:cs typeface="Times New Roman" panose="02020603050405020304" pitchFamily="18" charset="0"/>
                        </a:rPr>
                        <a:t>Year</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a:solidFill>
                            <a:srgbClr val="FFFFFF"/>
                          </a:solidFill>
                          <a:effectLst/>
                          <a:latin typeface="Times New Roman" panose="02020603050405020304" pitchFamily="18" charset="0"/>
                          <a:cs typeface="Times New Roman" panose="02020603050405020304" pitchFamily="18" charset="0"/>
                        </a:rPr>
                        <a:t>Outcome</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extLst>
                  <a:ext uri="{0D108BD9-81ED-4DB2-BD59-A6C34878D82A}">
                    <a16:rowId xmlns:a16="http://schemas.microsoft.com/office/drawing/2014/main" val="157362201"/>
                  </a:ext>
                </a:extLst>
              </a:tr>
              <a:tr h="894207">
                <a:tc>
                  <a:txBody>
                    <a:bodyPr/>
                    <a:lstStyle/>
                    <a:p>
                      <a:pPr marR="0" algn="l" rtl="0" eaLnBrk="1" fontAlgn="t" hangingPunct="1">
                        <a:buNone/>
                      </a:pPr>
                      <a:r>
                        <a:rPr lang="en-US" sz="2000" b="0" i="0" u="none" strike="noStrike" dirty="0">
                          <a:solidFill>
                            <a:srgbClr val="2A3990"/>
                          </a:solidFill>
                          <a:effectLst/>
                          <a:latin typeface="Times New Roman" panose="02020603050405020304" pitchFamily="18" charset="0"/>
                          <a:cs typeface="Times New Roman" panose="02020603050405020304" pitchFamily="18" charset="0"/>
                        </a:rPr>
                        <a:t>Design and development of a decentralized voting system using blockchain</a:t>
                      </a:r>
                      <a:endParaRPr lang="en-US" sz="1800" b="0" i="0" u="none" strike="noStrike" dirty="0">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IN" sz="2000" b="0" i="0" u="none" strike="noStrike">
                          <a:solidFill>
                            <a:srgbClr val="2A3990"/>
                          </a:solidFill>
                          <a:effectLst/>
                          <a:latin typeface="Times New Roman" panose="02020603050405020304" pitchFamily="18" charset="0"/>
                          <a:cs typeface="Times New Roman" panose="02020603050405020304" pitchFamily="18" charset="0"/>
                        </a:rPr>
                        <a:t>Md Ibrahim</a:t>
                      </a:r>
                      <a:endParaRPr lang="en-IN"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US" sz="2000" b="0" i="0" u="none" strike="noStrike" dirty="0">
                          <a:solidFill>
                            <a:srgbClr val="2A3990"/>
                          </a:solidFill>
                          <a:effectLst/>
                          <a:latin typeface="Times New Roman" panose="02020603050405020304" pitchFamily="18" charset="0"/>
                          <a:cs typeface="Times New Roman" panose="02020603050405020304" pitchFamily="18" charset="0"/>
                        </a:rPr>
                        <a:t>International Journal of Communication and Information Technology (IJCIT)</a:t>
                      </a:r>
                      <a:endParaRPr lang="en-US" sz="1800" b="0" i="0" u="none" strike="noStrike" dirty="0">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US" sz="2000" b="0" i="0" u="none" strike="noStrike">
                          <a:solidFill>
                            <a:srgbClr val="2A3990"/>
                          </a:solidFill>
                          <a:effectLst/>
                          <a:latin typeface="Times New Roman" panose="02020603050405020304" pitchFamily="18" charset="0"/>
                          <a:cs typeface="Times New Roman" panose="02020603050405020304" pitchFamily="18" charset="0"/>
                        </a:rPr>
                        <a:t>2023</a:t>
                      </a:r>
                      <a:endParaRPr lang="en-US" sz="1800" b="0" i="0" u="none" strike="noStrike">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US" sz="2000" b="0" i="0" u="none" strike="noStrike" dirty="0">
                          <a:solidFill>
                            <a:srgbClr val="2A3990"/>
                          </a:solidFill>
                          <a:effectLst/>
                          <a:latin typeface="Times New Roman" panose="02020603050405020304" pitchFamily="18" charset="0"/>
                          <a:cs typeface="Times New Roman" panose="02020603050405020304" pitchFamily="18" charset="0"/>
                        </a:rPr>
                        <a:t>Created a decentralized Ethereum DApp that eliminates central servers to enhance transparency and data distribution</a:t>
                      </a:r>
                      <a:endParaRPr lang="en-US" sz="1800" b="0" i="0" u="none" strike="noStrike" dirty="0">
                        <a:effectLst/>
                        <a:latin typeface="Arial" panose="020B0604020202020204" pitchFamily="34"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extLst>
                  <a:ext uri="{0D108BD9-81ED-4DB2-BD59-A6C34878D82A}">
                    <a16:rowId xmlns:a16="http://schemas.microsoft.com/office/drawing/2014/main" val="3760628433"/>
                  </a:ext>
                </a:extLst>
              </a:tr>
            </a:tbl>
          </a:graphicData>
        </a:graphic>
      </p:graphicFrame>
      <p:graphicFrame>
        <p:nvGraphicFramePr>
          <p:cNvPr id="5" name="Table 4">
            <a:extLst>
              <a:ext uri="{FF2B5EF4-FFF2-40B4-BE49-F238E27FC236}">
                <a16:creationId xmlns:a16="http://schemas.microsoft.com/office/drawing/2014/main" id="{1D57D3F8-02E8-98D2-715B-4EDD842CC7D3}"/>
              </a:ext>
            </a:extLst>
          </p:cNvPr>
          <p:cNvGraphicFramePr>
            <a:graphicFrameLocks noGrp="1"/>
          </p:cNvGraphicFramePr>
          <p:nvPr>
            <p:extLst>
              <p:ext uri="{D42A27DB-BD31-4B8C-83A1-F6EECF244321}">
                <p14:modId xmlns:p14="http://schemas.microsoft.com/office/powerpoint/2010/main" val="274193205"/>
              </p:ext>
            </p:extLst>
          </p:nvPr>
        </p:nvGraphicFramePr>
        <p:xfrm>
          <a:off x="1" y="414169"/>
          <a:ext cx="12192000" cy="2862204"/>
        </p:xfrm>
        <a:graphic>
          <a:graphicData uri="http://schemas.openxmlformats.org/drawingml/2006/table">
            <a:tbl>
              <a:tblPr firstRow="1" bandRow="1"/>
              <a:tblGrid>
                <a:gridCol w="2438400">
                  <a:extLst>
                    <a:ext uri="{9D8B030D-6E8A-4147-A177-3AD203B41FA5}">
                      <a16:colId xmlns:a16="http://schemas.microsoft.com/office/drawing/2014/main" val="3969371272"/>
                    </a:ext>
                  </a:extLst>
                </a:gridCol>
                <a:gridCol w="2438400">
                  <a:extLst>
                    <a:ext uri="{9D8B030D-6E8A-4147-A177-3AD203B41FA5}">
                      <a16:colId xmlns:a16="http://schemas.microsoft.com/office/drawing/2014/main" val="2288166454"/>
                    </a:ext>
                  </a:extLst>
                </a:gridCol>
                <a:gridCol w="2438400">
                  <a:extLst>
                    <a:ext uri="{9D8B030D-6E8A-4147-A177-3AD203B41FA5}">
                      <a16:colId xmlns:a16="http://schemas.microsoft.com/office/drawing/2014/main" val="1833154563"/>
                    </a:ext>
                  </a:extLst>
                </a:gridCol>
                <a:gridCol w="2438400">
                  <a:extLst>
                    <a:ext uri="{9D8B030D-6E8A-4147-A177-3AD203B41FA5}">
                      <a16:colId xmlns:a16="http://schemas.microsoft.com/office/drawing/2014/main" val="1177323303"/>
                    </a:ext>
                  </a:extLst>
                </a:gridCol>
                <a:gridCol w="2438400">
                  <a:extLst>
                    <a:ext uri="{9D8B030D-6E8A-4147-A177-3AD203B41FA5}">
                      <a16:colId xmlns:a16="http://schemas.microsoft.com/office/drawing/2014/main" val="1443695844"/>
                    </a:ext>
                  </a:extLst>
                </a:gridCol>
              </a:tblGrid>
              <a:tr h="563999">
                <a:tc>
                  <a:txBody>
                    <a:bodyPr/>
                    <a:lstStyle/>
                    <a:p>
                      <a:pPr marR="0" algn="l" rtl="0" eaLnBrk="1" fontAlgn="t" hangingPunct="1">
                        <a:buNone/>
                      </a:pPr>
                      <a:r>
                        <a:rPr lang="en-US" sz="2000" b="1" i="0" u="none" strike="noStrike" dirty="0">
                          <a:solidFill>
                            <a:srgbClr val="FFFFFF"/>
                          </a:solidFill>
                          <a:effectLst/>
                          <a:latin typeface="Times New Roman" panose="02020603050405020304" pitchFamily="18" charset="0"/>
                          <a:cs typeface="Times New Roman" panose="02020603050405020304" pitchFamily="18" charset="0"/>
                        </a:rPr>
                        <a:t>Title</a:t>
                      </a:r>
                      <a:endParaRPr lang="en-US"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dirty="0">
                          <a:solidFill>
                            <a:srgbClr val="FFFFFF"/>
                          </a:solidFill>
                          <a:effectLst/>
                          <a:latin typeface="Times New Roman" panose="02020603050405020304" pitchFamily="18" charset="0"/>
                          <a:cs typeface="Times New Roman" panose="02020603050405020304" pitchFamily="18" charset="0"/>
                        </a:rPr>
                        <a:t>Authors</a:t>
                      </a:r>
                      <a:endParaRPr lang="en-US"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dirty="0">
                          <a:solidFill>
                            <a:srgbClr val="FFFFFF"/>
                          </a:solidFill>
                          <a:effectLst/>
                          <a:latin typeface="Times New Roman" panose="02020603050405020304" pitchFamily="18" charset="0"/>
                          <a:cs typeface="Times New Roman" panose="02020603050405020304" pitchFamily="18" charset="0"/>
                        </a:rPr>
                        <a:t>Year &amp; Publications</a:t>
                      </a:r>
                      <a:endParaRPr lang="en-US"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000" b="1" i="0" u="none" strike="noStrike" dirty="0">
                          <a:solidFill>
                            <a:srgbClr val="FFFFFF"/>
                          </a:solidFill>
                          <a:effectLst/>
                          <a:latin typeface="Times New Roman" panose="02020603050405020304" pitchFamily="18" charset="0"/>
                          <a:cs typeface="Times New Roman" panose="02020603050405020304" pitchFamily="18" charset="0"/>
                        </a:rPr>
                        <a:t>Outcome</a:t>
                      </a:r>
                      <a:endParaRPr lang="en-US"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tc>
                  <a:txBody>
                    <a:bodyPr/>
                    <a:lstStyle/>
                    <a:p>
                      <a:pPr marR="0" algn="l" rtl="0" eaLnBrk="1" fontAlgn="t" hangingPunct="1">
                        <a:buNone/>
                      </a:pPr>
                      <a:r>
                        <a:rPr lang="en-US" sz="2200" b="1" i="0" u="none" strike="noStrike" dirty="0">
                          <a:solidFill>
                            <a:schemeClr val="bg1"/>
                          </a:solidFill>
                          <a:effectLst/>
                          <a:latin typeface="Times New Roman" panose="02020603050405020304" pitchFamily="18" charset="0"/>
                          <a:cs typeface="Times New Roman" panose="02020603050405020304" pitchFamily="18" charset="0"/>
                        </a:rPr>
                        <a:t>Concept Adopted? (✓)</a:t>
                      </a: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12D74"/>
                    </a:solidFill>
                  </a:tcPr>
                </a:tc>
                <a:extLst>
                  <a:ext uri="{0D108BD9-81ED-4DB2-BD59-A6C34878D82A}">
                    <a16:rowId xmlns:a16="http://schemas.microsoft.com/office/drawing/2014/main" val="2123977459"/>
                  </a:ext>
                </a:extLst>
              </a:tr>
              <a:tr h="1807177">
                <a:tc>
                  <a:txBody>
                    <a:bodyPr/>
                    <a:lstStyle/>
                    <a:p>
                      <a:pPr marR="0" algn="l" rtl="0" eaLnBrk="1" fontAlgn="t" hangingPunct="1">
                        <a:buNone/>
                      </a:pPr>
                      <a:r>
                        <a:rPr lang="en-US" sz="2000" b="0" i="0" u="none" strike="noStrike">
                          <a:solidFill>
                            <a:srgbClr val="2A3990"/>
                          </a:solidFill>
                          <a:effectLst/>
                          <a:latin typeface="Times New Roman" panose="02020603050405020304" pitchFamily="18" charset="0"/>
                          <a:cs typeface="Times New Roman" panose="02020603050405020304" pitchFamily="18" charset="0"/>
                        </a:rPr>
                        <a:t>Voting and Election System: using Blockchain Technology</a:t>
                      </a:r>
                      <a:endParaRPr lang="en-US" sz="1800" b="0" i="0" u="none" strike="noStrike">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IN" sz="2000" b="0" i="0" u="none" strike="noStrike" dirty="0">
                          <a:solidFill>
                            <a:srgbClr val="2A3990"/>
                          </a:solidFill>
                          <a:effectLst/>
                          <a:latin typeface="Times New Roman" panose="02020603050405020304" pitchFamily="18" charset="0"/>
                          <a:cs typeface="Times New Roman" panose="02020603050405020304" pitchFamily="18" charset="0"/>
                        </a:rPr>
                        <a:t>Nandimath, A. &amp; Mandape, S.</a:t>
                      </a:r>
                      <a:endParaRPr lang="en-IN"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IN" sz="2000" b="0" i="0" u="none" strike="noStrike" dirty="0">
                          <a:solidFill>
                            <a:srgbClr val="2A3990"/>
                          </a:solidFill>
                          <a:effectLst/>
                          <a:latin typeface="Times New Roman" panose="02020603050405020304" pitchFamily="18" charset="0"/>
                          <a:cs typeface="Times New Roman" panose="02020603050405020304" pitchFamily="18" charset="0"/>
                        </a:rPr>
                        <a:t>IJERT,</a:t>
                      </a:r>
                      <a:r>
                        <a:rPr lang="en-IN" sz="2200" b="0" i="0" u="none" strike="noStrike" dirty="0">
                          <a:solidFill>
                            <a:srgbClr val="2A3990"/>
                          </a:solidFill>
                          <a:effectLst/>
                          <a:latin typeface="Times New Roman" panose="02020603050405020304" pitchFamily="18" charset="0"/>
                          <a:cs typeface="Times New Roman" panose="02020603050405020304" pitchFamily="18" charset="0"/>
                        </a:rPr>
                        <a:t>2023.</a:t>
                      </a:r>
                      <a:endParaRPr lang="en-IN" sz="1800" b="0" i="0" u="none" strike="noStrike" dirty="0">
                        <a:effectLst/>
                        <a:latin typeface="Arial" panose="020B0604020202020204" pitchFamily="34" charset="0"/>
                      </a:endParaRP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US" sz="2200" b="0" i="0" u="none" strike="noStrike" dirty="0">
                          <a:effectLst/>
                          <a:latin typeface="Times New Roman" panose="02020603050405020304" pitchFamily="18" charset="0"/>
                          <a:cs typeface="Times New Roman" panose="02020603050405020304" pitchFamily="18" charset="0"/>
                        </a:rPr>
                        <a:t>Used DigiLocker credentials and webcam verification to store encrypted votes on private blockchain.</a:t>
                      </a: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tc>
                  <a:txBody>
                    <a:bodyPr/>
                    <a:lstStyle/>
                    <a:p>
                      <a:pPr marR="0" algn="l" rtl="0" eaLnBrk="1" fontAlgn="t" hangingPunct="1">
                        <a:buNone/>
                      </a:pPr>
                      <a:r>
                        <a:rPr lang="en-US" sz="2200" b="0" i="0" u="none" strike="noStrike" dirty="0">
                          <a:effectLst/>
                          <a:latin typeface="Times New Roman" panose="02020603050405020304" pitchFamily="18" charset="0"/>
                          <a:cs typeface="Times New Roman" panose="02020603050405020304" pitchFamily="18" charset="0"/>
                        </a:rPr>
                        <a:t>✓ (DigiLocker API)</a:t>
                      </a:r>
                    </a:p>
                  </a:txBody>
                  <a:tcPr marL="89981" marR="89981" marT="44991" marB="44991">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DD6"/>
                    </a:solidFill>
                  </a:tcPr>
                </a:tc>
                <a:extLst>
                  <a:ext uri="{0D108BD9-81ED-4DB2-BD59-A6C34878D82A}">
                    <a16:rowId xmlns:a16="http://schemas.microsoft.com/office/drawing/2014/main" val="4269605706"/>
                  </a:ext>
                </a:extLst>
              </a:tr>
            </a:tbl>
          </a:graphicData>
        </a:graphic>
      </p:graphicFrame>
    </p:spTree>
    <p:extLst>
      <p:ext uri="{BB962C8B-B14F-4D97-AF65-F5344CB8AC3E}">
        <p14:creationId xmlns:p14="http://schemas.microsoft.com/office/powerpoint/2010/main" val="129972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329E9-087A-8223-83BA-C31C4E2E1607}"/>
              </a:ext>
            </a:extLst>
          </p:cNvPr>
          <p:cNvSpPr>
            <a:spLocks noGrp="1"/>
          </p:cNvSpPr>
          <p:nvPr>
            <p:ph type="title"/>
          </p:nvPr>
        </p:nvSpPr>
        <p:spPr>
          <a:xfrm>
            <a:off x="4227312" y="0"/>
            <a:ext cx="6550279" cy="873303"/>
          </a:xfrm>
        </p:spPr>
        <p:txBody>
          <a:bodyPr>
            <a:noAutofit/>
          </a:bodyPr>
          <a:lstStyle/>
          <a:p>
            <a:r>
              <a:rPr lang="en-IN" sz="4000" dirty="0">
                <a:latin typeface="Algerian" panose="04020705040A02060702" pitchFamily="82" charset="0"/>
              </a:rPr>
              <a:t>SYSTEM</a:t>
            </a:r>
            <a:r>
              <a:rPr lang="en-IN" sz="2600" dirty="0">
                <a:latin typeface="Algerian" panose="04020705040A02060702" pitchFamily="82" charset="0"/>
              </a:rPr>
              <a:t> </a:t>
            </a:r>
            <a:r>
              <a:rPr lang="en-IN" sz="4000" dirty="0">
                <a:latin typeface="Algerian" panose="04020705040A02060702" pitchFamily="82" charset="0"/>
              </a:rPr>
              <a:t>DESIGN</a:t>
            </a:r>
          </a:p>
        </p:txBody>
      </p:sp>
      <p:pic>
        <p:nvPicPr>
          <p:cNvPr id="4" name="Picture 3">
            <a:extLst>
              <a:ext uri="{FF2B5EF4-FFF2-40B4-BE49-F238E27FC236}">
                <a16:creationId xmlns:a16="http://schemas.microsoft.com/office/drawing/2014/main" id="{A9927D72-C971-7225-83CC-2BF155729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7797"/>
            <a:ext cx="12192000" cy="6230203"/>
          </a:xfrm>
          <a:prstGeom prst="rect">
            <a:avLst/>
          </a:prstGeom>
        </p:spPr>
      </p:pic>
    </p:spTree>
    <p:extLst>
      <p:ext uri="{BB962C8B-B14F-4D97-AF65-F5344CB8AC3E}">
        <p14:creationId xmlns:p14="http://schemas.microsoft.com/office/powerpoint/2010/main" val="145188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7C72-E333-98E8-88A2-76037659EF3F}"/>
              </a:ext>
            </a:extLst>
          </p:cNvPr>
          <p:cNvSpPr>
            <a:spLocks noGrp="1"/>
          </p:cNvSpPr>
          <p:nvPr>
            <p:ph type="title"/>
          </p:nvPr>
        </p:nvSpPr>
        <p:spPr>
          <a:xfrm>
            <a:off x="415600" y="142240"/>
            <a:ext cx="11360800" cy="1082747"/>
          </a:xfrm>
        </p:spPr>
        <p:txBody>
          <a:bodyPr>
            <a:normAutofit/>
          </a:bodyPr>
          <a:lstStyle/>
          <a:p>
            <a:pPr algn="ctr"/>
            <a:r>
              <a:rPr lang="en-IN" sz="4400" dirty="0">
                <a:latin typeface="Algerian" panose="04020705040A02060702" pitchFamily="82" charset="0"/>
              </a:rPr>
              <a:t>FLOW CHART</a:t>
            </a:r>
          </a:p>
        </p:txBody>
      </p:sp>
      <p:pic>
        <p:nvPicPr>
          <p:cNvPr id="11" name="Picture 10">
            <a:extLst>
              <a:ext uri="{FF2B5EF4-FFF2-40B4-BE49-F238E27FC236}">
                <a16:creationId xmlns:a16="http://schemas.microsoft.com/office/drawing/2014/main" id="{1D0A9982-EF3A-B825-9937-10CB771EA43F}"/>
              </a:ext>
            </a:extLst>
          </p:cNvPr>
          <p:cNvPicPr>
            <a:picLocks noChangeAspect="1"/>
          </p:cNvPicPr>
          <p:nvPr/>
        </p:nvPicPr>
        <p:blipFill>
          <a:blip r:embed="rId2">
            <a:extLst>
              <a:ext uri="{28A0092B-C50C-407E-A947-70E740481C1C}">
                <a14:useLocalDpi xmlns:a14="http://schemas.microsoft.com/office/drawing/2010/main" val="0"/>
              </a:ext>
            </a:extLst>
          </a:blip>
          <a:srcRect l="2314" t="13187" r="6811" b="8296"/>
          <a:stretch>
            <a:fillRect/>
          </a:stretch>
        </p:blipFill>
        <p:spPr>
          <a:xfrm>
            <a:off x="6096000" y="827006"/>
            <a:ext cx="6096000" cy="4733316"/>
          </a:xfrm>
          <a:prstGeom prst="rect">
            <a:avLst/>
          </a:prstGeom>
        </p:spPr>
      </p:pic>
      <p:pic>
        <p:nvPicPr>
          <p:cNvPr id="4" name="Picture 3">
            <a:extLst>
              <a:ext uri="{FF2B5EF4-FFF2-40B4-BE49-F238E27FC236}">
                <a16:creationId xmlns:a16="http://schemas.microsoft.com/office/drawing/2014/main" id="{3DD7FE55-F5BA-2487-9C99-610CCF1B0E27}"/>
              </a:ext>
            </a:extLst>
          </p:cNvPr>
          <p:cNvPicPr>
            <a:picLocks noChangeAspect="1"/>
          </p:cNvPicPr>
          <p:nvPr/>
        </p:nvPicPr>
        <p:blipFill>
          <a:blip r:embed="rId3">
            <a:extLst>
              <a:ext uri="{28A0092B-C50C-407E-A947-70E740481C1C}">
                <a14:useLocalDpi xmlns:a14="http://schemas.microsoft.com/office/drawing/2010/main" val="0"/>
              </a:ext>
            </a:extLst>
          </a:blip>
          <a:srcRect l="15834" r="11749" b="16459"/>
          <a:stretch>
            <a:fillRect/>
          </a:stretch>
        </p:blipFill>
        <p:spPr>
          <a:xfrm>
            <a:off x="91440" y="924560"/>
            <a:ext cx="5825412" cy="4876800"/>
          </a:xfrm>
          <a:prstGeom prst="rect">
            <a:avLst/>
          </a:prstGeom>
        </p:spPr>
      </p:pic>
      <p:sp>
        <p:nvSpPr>
          <p:cNvPr id="3" name="TextBox 2">
            <a:extLst>
              <a:ext uri="{FF2B5EF4-FFF2-40B4-BE49-F238E27FC236}">
                <a16:creationId xmlns:a16="http://schemas.microsoft.com/office/drawing/2014/main" id="{34A852AE-21B0-0697-9DE5-F54E52994EC7}"/>
              </a:ext>
            </a:extLst>
          </p:cNvPr>
          <p:cNvSpPr txBox="1"/>
          <p:nvPr/>
        </p:nvSpPr>
        <p:spPr>
          <a:xfrm>
            <a:off x="415600" y="5657876"/>
            <a:ext cx="5680400" cy="369332"/>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Fig-1:Interactions with IBALLOT system</a:t>
            </a:r>
            <a:endParaRPr lang="en-IN" sz="1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9FAB2D1-B367-9C3D-37F0-186796374BF9}"/>
              </a:ext>
            </a:extLst>
          </p:cNvPr>
          <p:cNvSpPr txBox="1"/>
          <p:nvPr/>
        </p:nvSpPr>
        <p:spPr>
          <a:xfrm>
            <a:off x="6096000" y="5657876"/>
            <a:ext cx="6096000" cy="369332"/>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Fig-2:Structural chart of system components and data flow</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4348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15BED-73DB-51EB-6E5F-DDCA256E5C19}"/>
              </a:ext>
            </a:extLst>
          </p:cNvPr>
          <p:cNvSpPr>
            <a:spLocks noGrp="1"/>
          </p:cNvSpPr>
          <p:nvPr>
            <p:ph type="title"/>
          </p:nvPr>
        </p:nvSpPr>
        <p:spPr>
          <a:xfrm>
            <a:off x="283520" y="245041"/>
            <a:ext cx="11360800" cy="810400"/>
          </a:xfrm>
        </p:spPr>
        <p:txBody>
          <a:bodyPr>
            <a:noAutofit/>
          </a:bodyPr>
          <a:lstStyle/>
          <a:p>
            <a:pPr algn="ctr"/>
            <a:r>
              <a:rPr lang="en-IN" sz="4400" dirty="0">
                <a:latin typeface="Algerian" panose="04020705040A02060702" pitchFamily="82" charset="0"/>
              </a:rPr>
              <a:t>Software Requirements</a:t>
            </a:r>
          </a:p>
        </p:txBody>
      </p:sp>
      <p:sp>
        <p:nvSpPr>
          <p:cNvPr id="3" name="Text Placeholder 2">
            <a:extLst>
              <a:ext uri="{FF2B5EF4-FFF2-40B4-BE49-F238E27FC236}">
                <a16:creationId xmlns:a16="http://schemas.microsoft.com/office/drawing/2014/main" id="{DC82E7FF-C3FD-F63A-F138-8BDEF4D8F56D}"/>
              </a:ext>
            </a:extLst>
          </p:cNvPr>
          <p:cNvSpPr>
            <a:spLocks noGrp="1"/>
          </p:cNvSpPr>
          <p:nvPr>
            <p:ph type="body" idx="1"/>
          </p:nvPr>
        </p:nvSpPr>
        <p:spPr>
          <a:xfrm>
            <a:off x="292851" y="1064773"/>
            <a:ext cx="11492880" cy="5396158"/>
          </a:xfrm>
        </p:spPr>
        <p:txBody>
          <a:bodyPr>
            <a:normAutofit fontScale="92500" lnSpcReduction="10000"/>
          </a:bodyPr>
          <a:lstStyle/>
          <a:p>
            <a:pPr marL="152396" indent="0" algn="just">
              <a:lnSpc>
                <a:spcPct val="160000"/>
              </a:lnSpc>
              <a:buNone/>
            </a:pPr>
            <a:r>
              <a:rPr lang="en-IN" sz="2600" b="1" dirty="0">
                <a:latin typeface="Times New Roman" panose="02020603050405020304" pitchFamily="18" charset="0"/>
                <a:cs typeface="Times New Roman" panose="02020603050405020304" pitchFamily="18" charset="0"/>
              </a:rPr>
              <a:t>Frontend Interface:</a:t>
            </a:r>
          </a:p>
          <a:p>
            <a:pPr algn="just">
              <a:lnSpc>
                <a:spcPct val="160000"/>
              </a:lnSpc>
            </a:pPr>
            <a:r>
              <a:rPr lang="en-IN" sz="2400" dirty="0">
                <a:latin typeface="Times New Roman" panose="02020603050405020304" pitchFamily="18" charset="0"/>
                <a:cs typeface="Times New Roman" panose="02020603050405020304" pitchFamily="18" charset="0"/>
              </a:rPr>
              <a:t>React.js + Vite</a:t>
            </a:r>
          </a:p>
          <a:p>
            <a:pPr algn="just">
              <a:lnSpc>
                <a:spcPct val="160000"/>
              </a:lnSpc>
            </a:pPr>
            <a:r>
              <a:rPr lang="en-IN" sz="2400" dirty="0">
                <a:latin typeface="Times New Roman" panose="02020603050405020304" pitchFamily="18" charset="0"/>
                <a:cs typeface="Times New Roman" panose="02020603050405020304" pitchFamily="18" charset="0"/>
              </a:rPr>
              <a:t>Tailwind CSS</a:t>
            </a:r>
          </a:p>
          <a:p>
            <a:pPr marL="152396" indent="0" algn="just">
              <a:lnSpc>
                <a:spcPct val="160000"/>
              </a:lnSpc>
              <a:buNone/>
            </a:pPr>
            <a:r>
              <a:rPr lang="en-IN" sz="2600" b="1" dirty="0">
                <a:latin typeface="Times New Roman" panose="02020603050405020304" pitchFamily="18" charset="0"/>
                <a:cs typeface="Times New Roman" panose="02020603050405020304" pitchFamily="18" charset="0"/>
              </a:rPr>
              <a:t>Backend &amp; Database:</a:t>
            </a:r>
          </a:p>
          <a:p>
            <a:pPr algn="just">
              <a:lnSpc>
                <a:spcPct val="160000"/>
              </a:lnSpc>
            </a:pPr>
            <a:r>
              <a:rPr lang="en-IN" sz="2400" dirty="0">
                <a:latin typeface="Times New Roman" panose="02020603050405020304" pitchFamily="18" charset="0"/>
                <a:cs typeface="Times New Roman" panose="02020603050405020304" pitchFamily="18" charset="0"/>
              </a:rPr>
              <a:t>Node.js &amp; Express.js</a:t>
            </a:r>
          </a:p>
          <a:p>
            <a:pPr algn="just">
              <a:lnSpc>
                <a:spcPct val="160000"/>
              </a:lnSpc>
            </a:pPr>
            <a:r>
              <a:rPr lang="en-IN" sz="2400" dirty="0">
                <a:latin typeface="Times New Roman" panose="02020603050405020304" pitchFamily="18" charset="0"/>
                <a:cs typeface="Times New Roman" panose="02020603050405020304" pitchFamily="18" charset="0"/>
              </a:rPr>
              <a:t>Neon PostgreSQL (User Data)</a:t>
            </a:r>
          </a:p>
          <a:p>
            <a:pPr marL="152396" indent="0" algn="just">
              <a:lnSpc>
                <a:spcPct val="160000"/>
              </a:lnSpc>
              <a:buNone/>
            </a:pPr>
            <a:r>
              <a:rPr lang="en-IN" sz="2600" b="1" dirty="0">
                <a:latin typeface="Times New Roman" panose="02020603050405020304" pitchFamily="18" charset="0"/>
                <a:cs typeface="Times New Roman" panose="02020603050405020304" pitchFamily="18" charset="0"/>
              </a:rPr>
              <a:t>Blockchain Technology:</a:t>
            </a:r>
          </a:p>
          <a:p>
            <a:pPr algn="just">
              <a:lnSpc>
                <a:spcPct val="160000"/>
              </a:lnSpc>
            </a:pPr>
            <a:r>
              <a:rPr lang="en-IN" sz="2400" dirty="0">
                <a:latin typeface="Times New Roman" panose="02020603050405020304" pitchFamily="18" charset="0"/>
                <a:cs typeface="Times New Roman" panose="02020603050405020304" pitchFamily="18" charset="0"/>
              </a:rPr>
              <a:t>Solidity (Smart Contract Logic)</a:t>
            </a:r>
          </a:p>
          <a:p>
            <a:pPr algn="just">
              <a:lnSpc>
                <a:spcPct val="160000"/>
              </a:lnSpc>
            </a:pPr>
            <a:r>
              <a:rPr lang="en-IN" sz="2400" dirty="0">
                <a:latin typeface="Times New Roman" panose="02020603050405020304" pitchFamily="18" charset="0"/>
                <a:cs typeface="Times New Roman" panose="02020603050405020304" pitchFamily="18" charset="0"/>
              </a:rPr>
              <a:t>Hardhat (Testing Framework)</a:t>
            </a:r>
          </a:p>
          <a:p>
            <a:pPr algn="just">
              <a:lnSpc>
                <a:spcPct val="160000"/>
              </a:lnSpc>
            </a:pPr>
            <a:r>
              <a:rPr lang="en-IN" sz="2400" dirty="0">
                <a:latin typeface="Times New Roman" panose="02020603050405020304" pitchFamily="18" charset="0"/>
                <a:cs typeface="Times New Roman" panose="02020603050405020304" pitchFamily="18" charset="0"/>
              </a:rPr>
              <a:t>MetaMask (Wallet Integration)</a:t>
            </a:r>
          </a:p>
        </p:txBody>
      </p:sp>
    </p:spTree>
    <p:extLst>
      <p:ext uri="{BB962C8B-B14F-4D97-AF65-F5344CB8AC3E}">
        <p14:creationId xmlns:p14="http://schemas.microsoft.com/office/powerpoint/2010/main" val="1854967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D3AFC-797B-BF9C-B29C-9E726053AD4F}"/>
              </a:ext>
            </a:extLst>
          </p:cNvPr>
          <p:cNvSpPr>
            <a:spLocks noGrp="1"/>
          </p:cNvSpPr>
          <p:nvPr>
            <p:ph type="title"/>
          </p:nvPr>
        </p:nvSpPr>
        <p:spPr>
          <a:xfrm>
            <a:off x="415600" y="0"/>
            <a:ext cx="11360800" cy="810400"/>
          </a:xfrm>
        </p:spPr>
        <p:txBody>
          <a:bodyPr>
            <a:normAutofit fontScale="90000"/>
          </a:bodyPr>
          <a:lstStyle/>
          <a:p>
            <a:pPr algn="ctr"/>
            <a:r>
              <a:rPr lang="en-IN" sz="4900" dirty="0">
                <a:solidFill>
                  <a:schemeClr val="tx1"/>
                </a:solidFill>
                <a:latin typeface="Algerian" panose="04020705040A02060702" pitchFamily="82" charset="0"/>
              </a:rPr>
              <a:t>IMPLEMENTATION DETAILS</a:t>
            </a:r>
            <a:br>
              <a:rPr lang="en-IN" sz="3200" dirty="0">
                <a:solidFill>
                  <a:schemeClr val="tx1"/>
                </a:solidFill>
                <a:latin typeface="Algerian" panose="04020705040A02060702" pitchFamily="82" charset="0"/>
              </a:rPr>
            </a:br>
            <a:endParaRPr lang="en-IN" dirty="0"/>
          </a:p>
        </p:txBody>
      </p:sp>
      <p:graphicFrame>
        <p:nvGraphicFramePr>
          <p:cNvPr id="5" name="Table 4">
            <a:extLst>
              <a:ext uri="{FF2B5EF4-FFF2-40B4-BE49-F238E27FC236}">
                <a16:creationId xmlns:a16="http://schemas.microsoft.com/office/drawing/2014/main" id="{28A22339-6F8B-B417-0DC6-47CACF17CE9A}"/>
              </a:ext>
            </a:extLst>
          </p:cNvPr>
          <p:cNvGraphicFramePr>
            <a:graphicFrameLocks noGrp="1"/>
          </p:cNvGraphicFramePr>
          <p:nvPr>
            <p:extLst>
              <p:ext uri="{D42A27DB-BD31-4B8C-83A1-F6EECF244321}">
                <p14:modId xmlns:p14="http://schemas.microsoft.com/office/powerpoint/2010/main" val="1523117555"/>
              </p:ext>
            </p:extLst>
          </p:nvPr>
        </p:nvGraphicFramePr>
        <p:xfrm>
          <a:off x="415600" y="810400"/>
          <a:ext cx="11187120" cy="5632857"/>
        </p:xfrm>
        <a:graphic>
          <a:graphicData uri="http://schemas.openxmlformats.org/drawingml/2006/table">
            <a:tbl>
              <a:tblPr firstRow="1" bandRow="1">
                <a:tableStyleId>{5C22544A-7EE6-4342-B048-85BDC9FD1C3A}</a:tableStyleId>
              </a:tblPr>
              <a:tblGrid>
                <a:gridCol w="3729040">
                  <a:extLst>
                    <a:ext uri="{9D8B030D-6E8A-4147-A177-3AD203B41FA5}">
                      <a16:colId xmlns:a16="http://schemas.microsoft.com/office/drawing/2014/main" val="2506991536"/>
                    </a:ext>
                  </a:extLst>
                </a:gridCol>
                <a:gridCol w="3729040">
                  <a:extLst>
                    <a:ext uri="{9D8B030D-6E8A-4147-A177-3AD203B41FA5}">
                      <a16:colId xmlns:a16="http://schemas.microsoft.com/office/drawing/2014/main" val="1458721137"/>
                    </a:ext>
                  </a:extLst>
                </a:gridCol>
                <a:gridCol w="3729040">
                  <a:extLst>
                    <a:ext uri="{9D8B030D-6E8A-4147-A177-3AD203B41FA5}">
                      <a16:colId xmlns:a16="http://schemas.microsoft.com/office/drawing/2014/main" val="3672745138"/>
                    </a:ext>
                  </a:extLst>
                </a:gridCol>
              </a:tblGrid>
              <a:tr h="481737">
                <a:tc>
                  <a:txBody>
                    <a:bodyPr/>
                    <a:lstStyle/>
                    <a:p>
                      <a:r>
                        <a:rPr lang="en-IN" dirty="0"/>
                        <a:t>Module</a:t>
                      </a:r>
                    </a:p>
                  </a:txBody>
                  <a:tcPr/>
                </a:tc>
                <a:tc>
                  <a:txBody>
                    <a:bodyPr/>
                    <a:lstStyle/>
                    <a:p>
                      <a:r>
                        <a:rPr lang="en-IN" dirty="0"/>
                        <a:t>Tech Stack</a:t>
                      </a:r>
                    </a:p>
                  </a:txBody>
                  <a:tcPr/>
                </a:tc>
                <a:tc>
                  <a:txBody>
                    <a:bodyPr/>
                    <a:lstStyle/>
                    <a:p>
                      <a:r>
                        <a:rPr lang="en-IN" dirty="0"/>
                        <a:t>Key Logic</a:t>
                      </a:r>
                    </a:p>
                  </a:txBody>
                  <a:tcPr/>
                </a:tc>
                <a:extLst>
                  <a:ext uri="{0D108BD9-81ED-4DB2-BD59-A6C34878D82A}">
                    <a16:rowId xmlns:a16="http://schemas.microsoft.com/office/drawing/2014/main" val="3280904423"/>
                  </a:ext>
                </a:extLst>
              </a:tr>
              <a:tr h="1971132">
                <a:tc>
                  <a:txBody>
                    <a:bodyPr/>
                    <a:lstStyle/>
                    <a:p>
                      <a:r>
                        <a:rPr lang="en-IN" sz="2000" dirty="0">
                          <a:latin typeface="Times New Roman" panose="02020603050405020304" pitchFamily="18" charset="0"/>
                          <a:cs typeface="Times New Roman" panose="02020603050405020304" pitchFamily="18" charset="0"/>
                        </a:rPr>
                        <a:t>Smart Contract</a:t>
                      </a:r>
                    </a:p>
                  </a:txBody>
                  <a:tcPr/>
                </a:tc>
                <a:tc>
                  <a:txBody>
                    <a:bodyPr/>
                    <a:lstStyle/>
                    <a:p>
                      <a:r>
                        <a:rPr lang="en-IN" sz="2000" dirty="0">
                          <a:latin typeface="Times New Roman" panose="02020603050405020304" pitchFamily="18" charset="0"/>
                          <a:cs typeface="Times New Roman" panose="02020603050405020304" pitchFamily="18" charset="0"/>
                        </a:rPr>
                        <a:t>Solidity</a:t>
                      </a: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Anti-Double Vote: Uses mapping to reject repeat attempts.</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Immutable: vote() is write-only; no delete function.</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Secure: ReentrancyGuard prevents hack attacks.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14830881"/>
                  </a:ext>
                </a:extLst>
              </a:tr>
              <a:tr h="1161078">
                <a:tc>
                  <a:txBody>
                    <a:bodyPr/>
                    <a:lstStyle/>
                    <a:p>
                      <a:r>
                        <a:rPr lang="en-IN" sz="2000" dirty="0">
                          <a:latin typeface="Times New Roman" panose="02020603050405020304" pitchFamily="18" charset="0"/>
                          <a:cs typeface="Times New Roman" panose="02020603050405020304" pitchFamily="18" charset="0"/>
                        </a:rPr>
                        <a:t>Backend</a:t>
                      </a:r>
                    </a:p>
                  </a:txBody>
                  <a:tcPr/>
                </a:tc>
                <a:tc>
                  <a:txBody>
                    <a:bodyPr/>
                    <a:lstStyle/>
                    <a:p>
                      <a:r>
                        <a:rPr lang="en-IN" sz="2000" dirty="0">
                          <a:latin typeface="Times New Roman" panose="02020603050405020304" pitchFamily="18" charset="0"/>
                          <a:cs typeface="Times New Roman" panose="02020603050405020304" pitchFamily="18" charset="0"/>
                        </a:rPr>
                        <a:t>Node.js &amp; Ethers.js</a:t>
                      </a:r>
                    </a:p>
                    <a:p>
                      <a:r>
                        <a:rPr lang="en-IN" sz="2000" dirty="0">
                          <a:latin typeface="Times New Roman" panose="02020603050405020304" pitchFamily="18" charset="0"/>
                          <a:cs typeface="Times New Roman" panose="02020603050405020304" pitchFamily="18" charset="0"/>
                        </a:rPr>
                        <a:t>Express.js</a:t>
                      </a: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Gasless: User signs off-chain; backend relays transaction.</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Robust: Auto-retries failed blockchain calls.</a:t>
                      </a:r>
                    </a:p>
                  </a:txBody>
                  <a:tcPr/>
                </a:tc>
                <a:extLst>
                  <a:ext uri="{0D108BD9-81ED-4DB2-BD59-A6C34878D82A}">
                    <a16:rowId xmlns:a16="http://schemas.microsoft.com/office/drawing/2014/main" val="180398006"/>
                  </a:ext>
                </a:extLst>
              </a:tr>
              <a:tr h="1431096">
                <a:tc>
                  <a:txBody>
                    <a:bodyPr/>
                    <a:lstStyle/>
                    <a:p>
                      <a:r>
                        <a:rPr lang="en-IN" sz="2000" dirty="0">
                          <a:latin typeface="Times New Roman" panose="02020603050405020304" pitchFamily="18" charset="0"/>
                          <a:cs typeface="Times New Roman" panose="02020603050405020304" pitchFamily="18" charset="0"/>
                        </a:rPr>
                        <a:t>Identity Guard</a:t>
                      </a:r>
                    </a:p>
                  </a:txBody>
                  <a:tcPr/>
                </a:tc>
                <a:tc>
                  <a:txBody>
                    <a:bodyPr/>
                    <a:lstStyle/>
                    <a:p>
                      <a:r>
                        <a:rPr lang="en-IN" sz="2000" dirty="0">
                          <a:latin typeface="Times New Roman" panose="02020603050405020304" pitchFamily="18" charset="0"/>
                          <a:cs typeface="Times New Roman" panose="02020603050405020304" pitchFamily="18" charset="0"/>
                        </a:rPr>
                        <a:t>Mock DigiLocker</a:t>
                      </a: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Age Check: Enforces age &gt;= 18 from verified DOB.</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Unique: Maps Aadhaar hash to Voter ID to ensure "One Person, One Vote".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98551228"/>
                  </a:ext>
                </a:extLst>
              </a:tr>
            </a:tbl>
          </a:graphicData>
        </a:graphic>
      </p:graphicFrame>
    </p:spTree>
    <p:extLst>
      <p:ext uri="{BB962C8B-B14F-4D97-AF65-F5344CB8AC3E}">
        <p14:creationId xmlns:p14="http://schemas.microsoft.com/office/powerpoint/2010/main" val="1470412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EC243-9FD6-55AA-2814-BA9867EAB51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2A043DF-B200-15E3-24D5-D6513A0A4CDD}"/>
              </a:ext>
            </a:extLst>
          </p:cNvPr>
          <p:cNvSpPr>
            <a:spLocks noGrp="1"/>
          </p:cNvSpPr>
          <p:nvPr>
            <p:ph type="body" idx="1"/>
          </p:nvPr>
        </p:nvSpPr>
        <p:spPr>
          <a:xfrm>
            <a:off x="159962" y="1203000"/>
            <a:ext cx="11360800" cy="5256794"/>
          </a:xfrm>
        </p:spPr>
        <p:txBody>
          <a:bodyPr>
            <a:normAutofit/>
          </a:bodyPr>
          <a:lstStyle/>
          <a:p>
            <a:pPr marL="152396" indent="0" algn="just">
              <a:buNone/>
            </a:pPr>
            <a:endParaRPr lang="en-IN" sz="2066" dirty="0">
              <a:latin typeface="Times New Roman" panose="02020603050405020304" pitchFamily="18" charset="0"/>
              <a:cs typeface="Times New Roman" panose="02020603050405020304" pitchFamily="18" charset="0"/>
            </a:endParaRPr>
          </a:p>
          <a:p>
            <a:endParaRPr lang="en-IN" sz="22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41C3CCA5-B1D6-4884-8116-A87EA0FDAC0E}"/>
              </a:ext>
            </a:extLst>
          </p:cNvPr>
          <p:cNvGraphicFramePr>
            <a:graphicFrameLocks noGrp="1"/>
          </p:cNvGraphicFramePr>
          <p:nvPr>
            <p:extLst>
              <p:ext uri="{D42A27DB-BD31-4B8C-83A1-F6EECF244321}">
                <p14:modId xmlns:p14="http://schemas.microsoft.com/office/powerpoint/2010/main" val="2446941411"/>
              </p:ext>
            </p:extLst>
          </p:nvPr>
        </p:nvGraphicFramePr>
        <p:xfrm>
          <a:off x="333641" y="257543"/>
          <a:ext cx="11512614" cy="5938540"/>
        </p:xfrm>
        <a:graphic>
          <a:graphicData uri="http://schemas.openxmlformats.org/drawingml/2006/table">
            <a:tbl>
              <a:tblPr firstRow="1" bandRow="1">
                <a:tableStyleId>{5C22544A-7EE6-4342-B048-85BDC9FD1C3A}</a:tableStyleId>
              </a:tblPr>
              <a:tblGrid>
                <a:gridCol w="3837538">
                  <a:extLst>
                    <a:ext uri="{9D8B030D-6E8A-4147-A177-3AD203B41FA5}">
                      <a16:colId xmlns:a16="http://schemas.microsoft.com/office/drawing/2014/main" val="458118904"/>
                    </a:ext>
                  </a:extLst>
                </a:gridCol>
                <a:gridCol w="3837538">
                  <a:extLst>
                    <a:ext uri="{9D8B030D-6E8A-4147-A177-3AD203B41FA5}">
                      <a16:colId xmlns:a16="http://schemas.microsoft.com/office/drawing/2014/main" val="2280086310"/>
                    </a:ext>
                  </a:extLst>
                </a:gridCol>
                <a:gridCol w="3837538">
                  <a:extLst>
                    <a:ext uri="{9D8B030D-6E8A-4147-A177-3AD203B41FA5}">
                      <a16:colId xmlns:a16="http://schemas.microsoft.com/office/drawing/2014/main" val="3925474811"/>
                    </a:ext>
                  </a:extLst>
                </a:gridCol>
              </a:tblGrid>
              <a:tr h="520204">
                <a:tc>
                  <a:txBody>
                    <a:bodyPr/>
                    <a:lstStyle/>
                    <a:p>
                      <a:r>
                        <a:rPr lang="en-IN" dirty="0"/>
                        <a:t>Module</a:t>
                      </a:r>
                    </a:p>
                  </a:txBody>
                  <a:tcPr/>
                </a:tc>
                <a:tc>
                  <a:txBody>
                    <a:bodyPr/>
                    <a:lstStyle/>
                    <a:p>
                      <a:r>
                        <a:rPr lang="en-IN" dirty="0"/>
                        <a:t>Tech Stack</a:t>
                      </a:r>
                    </a:p>
                  </a:txBody>
                  <a:tcPr/>
                </a:tc>
                <a:tc>
                  <a:txBody>
                    <a:bodyPr/>
                    <a:lstStyle/>
                    <a:p>
                      <a:r>
                        <a:rPr lang="en-IN" dirty="0"/>
                        <a:t>Key Logic</a:t>
                      </a:r>
                    </a:p>
                  </a:txBody>
                  <a:tcPr/>
                </a:tc>
                <a:extLst>
                  <a:ext uri="{0D108BD9-81ED-4DB2-BD59-A6C34878D82A}">
                    <a16:rowId xmlns:a16="http://schemas.microsoft.com/office/drawing/2014/main" val="2287438075"/>
                  </a:ext>
                </a:extLst>
              </a:tr>
              <a:tr h="2128530">
                <a:tc>
                  <a:txBody>
                    <a:bodyPr/>
                    <a:lstStyle/>
                    <a:p>
                      <a:r>
                        <a:rPr lang="en-IN" sz="2000" dirty="0">
                          <a:latin typeface="Times New Roman" panose="02020603050405020304" pitchFamily="18" charset="0"/>
                          <a:cs typeface="Times New Roman" panose="02020603050405020304" pitchFamily="18" charset="0"/>
                        </a:rPr>
                        <a:t>Security Layer</a:t>
                      </a:r>
                    </a:p>
                  </a:txBody>
                  <a:tcPr/>
                </a:tc>
                <a:tc>
                  <a:txBody>
                    <a:bodyPr/>
                    <a:lstStyle/>
                    <a:p>
                      <a:r>
                        <a:rPr lang="en-IN" sz="2000" dirty="0">
                          <a:latin typeface="Times New Roman" panose="02020603050405020304" pitchFamily="18" charset="0"/>
                          <a:cs typeface="Times New Roman" panose="02020603050405020304" pitchFamily="18" charset="0"/>
                        </a:rPr>
                        <a:t>AES-256 &amp; Bcrypt</a:t>
                      </a:r>
                    </a:p>
                    <a:p>
                      <a:r>
                        <a:rPr lang="en-IN" sz="2000" dirty="0">
                          <a:latin typeface="Times New Roman" panose="02020603050405020304" pitchFamily="18" charset="0"/>
                          <a:cs typeface="Times New Roman" panose="02020603050405020304" pitchFamily="18" charset="0"/>
                        </a:rPr>
                        <a:t>SHA-256</a:t>
                      </a: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Key Safe: AES-encrypted private keys decrypted only to sign.</a:t>
                      </a:r>
                    </a:p>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Auth: Passwords hashed via bcrypt before storage.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66374720"/>
                  </a:ext>
                </a:extLst>
              </a:tr>
              <a:tr h="1744435">
                <a:tc>
                  <a:txBody>
                    <a:bodyPr/>
                    <a:lstStyle/>
                    <a:p>
                      <a:r>
                        <a:rPr lang="en-IN" sz="2000" dirty="0">
                          <a:latin typeface="Times New Roman" panose="02020603050405020304" pitchFamily="18" charset="0"/>
                          <a:cs typeface="Times New Roman" panose="02020603050405020304" pitchFamily="18" charset="0"/>
                        </a:rPr>
                        <a:t>Live Dashboard</a:t>
                      </a:r>
                    </a:p>
                  </a:txBody>
                  <a:tcPr/>
                </a:tc>
                <a:tc>
                  <a:txBody>
                    <a:bodyPr/>
                    <a:lstStyle/>
                    <a:p>
                      <a:r>
                        <a:rPr lang="en-IN" sz="2000" dirty="0">
                          <a:latin typeface="Times New Roman" panose="02020603050405020304" pitchFamily="18" charset="0"/>
                          <a:cs typeface="Times New Roman" panose="02020603050405020304" pitchFamily="18" charset="0"/>
                        </a:rPr>
                        <a:t>React &amp; </a:t>
                      </a:r>
                      <a:r>
                        <a:rPr lang="en-IN" sz="2000" dirty="0" err="1">
                          <a:latin typeface="Times New Roman" panose="02020603050405020304" pitchFamily="18" charset="0"/>
                          <a:cs typeface="Times New Roman" panose="02020603050405020304" pitchFamily="18" charset="0"/>
                        </a:rPr>
                        <a:t>WebSockets</a:t>
                      </a:r>
                      <a:endParaRPr lang="en-IN" sz="2000" dirty="0">
                        <a:latin typeface="Times New Roman" panose="02020603050405020304" pitchFamily="18" charset="0"/>
                        <a:cs typeface="Times New Roman" panose="02020603050405020304" pitchFamily="18" charset="0"/>
                      </a:endParaRP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ws:// connection pushes instant vote updates.</a:t>
                      </a:r>
                    </a:p>
                  </a:txBody>
                  <a:tcPr/>
                </a:tc>
                <a:extLst>
                  <a:ext uri="{0D108BD9-81ED-4DB2-BD59-A6C34878D82A}">
                    <a16:rowId xmlns:a16="http://schemas.microsoft.com/office/drawing/2014/main" val="2420308001"/>
                  </a:ext>
                </a:extLst>
              </a:tr>
              <a:tr h="1545371">
                <a:tc>
                  <a:txBody>
                    <a:bodyPr/>
                    <a:lstStyle/>
                    <a:p>
                      <a:r>
                        <a:rPr lang="en-IN" sz="2000" dirty="0">
                          <a:latin typeface="Times New Roman" panose="02020603050405020304" pitchFamily="18" charset="0"/>
                          <a:cs typeface="Times New Roman" panose="02020603050405020304" pitchFamily="18" charset="0"/>
                        </a:rPr>
                        <a:t>Hybrid DB</a:t>
                      </a:r>
                    </a:p>
                  </a:txBody>
                  <a:tcPr/>
                </a:tc>
                <a:tc>
                  <a:txBody>
                    <a:bodyPr/>
                    <a:lstStyle/>
                    <a:p>
                      <a:r>
                        <a:rPr lang="en-IN" sz="2000" dirty="0">
                          <a:latin typeface="Times New Roman" panose="02020603050405020304" pitchFamily="18" charset="0"/>
                          <a:cs typeface="Times New Roman" panose="02020603050405020304" pitchFamily="18" charset="0"/>
                        </a:rPr>
                        <a:t>PostgreSQL</a:t>
                      </a:r>
                    </a:p>
                  </a:txBody>
                  <a:tcPr/>
                </a:tc>
                <a:tc>
                  <a:txBody>
                    <a:bodyPr/>
                    <a:lstStyle/>
                    <a:p>
                      <a:pPr marL="342900" indent="-342900" algn="l">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Optimized: Stores heavy data (photos) off-chain to save gas.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6151502"/>
                  </a:ext>
                </a:extLst>
              </a:tr>
            </a:tbl>
          </a:graphicData>
        </a:graphic>
      </p:graphicFrame>
    </p:spTree>
    <p:extLst>
      <p:ext uri="{BB962C8B-B14F-4D97-AF65-F5344CB8AC3E}">
        <p14:creationId xmlns:p14="http://schemas.microsoft.com/office/powerpoint/2010/main" val="629331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64006-682E-E3BC-F941-B3D552ADE010}"/>
              </a:ext>
            </a:extLst>
          </p:cNvPr>
          <p:cNvSpPr>
            <a:spLocks noGrp="1"/>
          </p:cNvSpPr>
          <p:nvPr>
            <p:ph type="title"/>
          </p:nvPr>
        </p:nvSpPr>
        <p:spPr>
          <a:xfrm>
            <a:off x="286438" y="25962"/>
            <a:ext cx="2799662" cy="810400"/>
          </a:xfrm>
        </p:spPr>
        <p:txBody>
          <a:bodyPr>
            <a:noAutofit/>
          </a:bodyPr>
          <a:lstStyle/>
          <a:p>
            <a:pPr algn="ctr"/>
            <a:r>
              <a:rPr lang="en-IN" sz="4400" dirty="0">
                <a:latin typeface="Algerian" panose="04020705040A02060702" pitchFamily="82" charset="0"/>
              </a:rPr>
              <a:t>         </a:t>
            </a:r>
          </a:p>
        </p:txBody>
      </p:sp>
      <p:sp>
        <p:nvSpPr>
          <p:cNvPr id="3" name="TextBox 2">
            <a:extLst>
              <a:ext uri="{FF2B5EF4-FFF2-40B4-BE49-F238E27FC236}">
                <a16:creationId xmlns:a16="http://schemas.microsoft.com/office/drawing/2014/main" id="{6FA287CA-F2BE-64C1-9708-B607CC0061D4}"/>
              </a:ext>
            </a:extLst>
          </p:cNvPr>
          <p:cNvSpPr txBox="1"/>
          <p:nvPr/>
        </p:nvSpPr>
        <p:spPr>
          <a:xfrm>
            <a:off x="1043609" y="25962"/>
            <a:ext cx="9471991" cy="769441"/>
          </a:xfrm>
          <a:prstGeom prst="rect">
            <a:avLst/>
          </a:prstGeom>
          <a:noFill/>
        </p:spPr>
        <p:txBody>
          <a:bodyPr wrap="square" rtlCol="0">
            <a:spAutoFit/>
          </a:bodyPr>
          <a:lstStyle/>
          <a:p>
            <a:pPr algn="ctr"/>
            <a:r>
              <a:rPr lang="en-IN" sz="4400" dirty="0">
                <a:solidFill>
                  <a:schemeClr val="tx1"/>
                </a:solidFill>
                <a:latin typeface="Algerian" panose="04020705040A02060702" pitchFamily="82" charset="0"/>
              </a:rPr>
              <a:t>Results </a:t>
            </a:r>
          </a:p>
        </p:txBody>
      </p:sp>
      <p:pic>
        <p:nvPicPr>
          <p:cNvPr id="7" name="Picture 6">
            <a:extLst>
              <a:ext uri="{FF2B5EF4-FFF2-40B4-BE49-F238E27FC236}">
                <a16:creationId xmlns:a16="http://schemas.microsoft.com/office/drawing/2014/main" id="{5FA87897-654C-1AD6-C6F7-C8C603AB9E61}"/>
              </a:ext>
            </a:extLst>
          </p:cNvPr>
          <p:cNvPicPr>
            <a:picLocks noChangeAspect="1"/>
          </p:cNvPicPr>
          <p:nvPr/>
        </p:nvPicPr>
        <p:blipFill>
          <a:blip r:embed="rId2">
            <a:extLst>
              <a:ext uri="{28A0092B-C50C-407E-A947-70E740481C1C}">
                <a14:useLocalDpi xmlns:a14="http://schemas.microsoft.com/office/drawing/2010/main" val="0"/>
              </a:ext>
            </a:extLst>
          </a:blip>
          <a:srcRect r="27409"/>
          <a:stretch>
            <a:fillRect/>
          </a:stretch>
        </p:blipFill>
        <p:spPr>
          <a:xfrm>
            <a:off x="4333460" y="885346"/>
            <a:ext cx="7858539" cy="5584280"/>
          </a:xfrm>
          <a:prstGeom prst="rect">
            <a:avLst/>
          </a:prstGeom>
        </p:spPr>
      </p:pic>
      <p:pic>
        <p:nvPicPr>
          <p:cNvPr id="5" name="Picture 4">
            <a:extLst>
              <a:ext uri="{FF2B5EF4-FFF2-40B4-BE49-F238E27FC236}">
                <a16:creationId xmlns:a16="http://schemas.microsoft.com/office/drawing/2014/main" id="{7DA6438E-A9F9-49CC-212B-E15F970E5C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13" y="885345"/>
            <a:ext cx="4314047" cy="5584279"/>
          </a:xfrm>
          <a:prstGeom prst="rect">
            <a:avLst/>
          </a:prstGeom>
        </p:spPr>
      </p:pic>
    </p:spTree>
    <p:extLst>
      <p:ext uri="{BB962C8B-B14F-4D97-AF65-F5344CB8AC3E}">
        <p14:creationId xmlns:p14="http://schemas.microsoft.com/office/powerpoint/2010/main" val="3328118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FF5A21-DFE4-E23E-BE49-3134580DB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7401" y="1054359"/>
            <a:ext cx="7454900" cy="5257540"/>
          </a:xfrm>
          <a:prstGeom prst="rect">
            <a:avLst/>
          </a:prstGeom>
        </p:spPr>
      </p:pic>
      <p:pic>
        <p:nvPicPr>
          <p:cNvPr id="4" name="Picture 3">
            <a:extLst>
              <a:ext uri="{FF2B5EF4-FFF2-40B4-BE49-F238E27FC236}">
                <a16:creationId xmlns:a16="http://schemas.microsoft.com/office/drawing/2014/main" id="{A86C441E-A5D8-4D74-226A-76E11A6F9795}"/>
              </a:ext>
            </a:extLst>
          </p:cNvPr>
          <p:cNvPicPr>
            <a:picLocks noChangeAspect="1"/>
          </p:cNvPicPr>
          <p:nvPr/>
        </p:nvPicPr>
        <p:blipFill>
          <a:blip r:embed="rId3"/>
          <a:srcRect l="32584" r="31750"/>
          <a:stretch>
            <a:fillRect/>
          </a:stretch>
        </p:blipFill>
        <p:spPr>
          <a:xfrm>
            <a:off x="139699" y="1054359"/>
            <a:ext cx="4348480" cy="5435339"/>
          </a:xfrm>
          <a:prstGeom prst="rect">
            <a:avLst/>
          </a:prstGeom>
        </p:spPr>
      </p:pic>
      <p:sp>
        <p:nvSpPr>
          <p:cNvPr id="3" name="TextBox 2">
            <a:extLst>
              <a:ext uri="{FF2B5EF4-FFF2-40B4-BE49-F238E27FC236}">
                <a16:creationId xmlns:a16="http://schemas.microsoft.com/office/drawing/2014/main" id="{6641D71E-9E9C-C29C-C4A4-35DA5B18AED2}"/>
              </a:ext>
            </a:extLst>
          </p:cNvPr>
          <p:cNvSpPr txBox="1"/>
          <p:nvPr/>
        </p:nvSpPr>
        <p:spPr>
          <a:xfrm>
            <a:off x="3349689" y="144691"/>
            <a:ext cx="6839339" cy="584775"/>
          </a:xfrm>
          <a:prstGeom prst="rect">
            <a:avLst/>
          </a:prstGeom>
          <a:noFill/>
        </p:spPr>
        <p:txBody>
          <a:bodyPr wrap="square" rtlCol="0">
            <a:spAutoFit/>
          </a:bodyPr>
          <a:lstStyle/>
          <a:p>
            <a:pPr algn="just"/>
            <a:r>
              <a:rPr lang="en-IN" sz="3200" dirty="0">
                <a:latin typeface="Algerian" panose="04020705040A02060702" pitchFamily="82" charset="0"/>
              </a:rPr>
              <a:t>DIGILOKCER VERIFICATION</a:t>
            </a:r>
          </a:p>
        </p:txBody>
      </p:sp>
    </p:spTree>
    <p:extLst>
      <p:ext uri="{BB962C8B-B14F-4D97-AF65-F5344CB8AC3E}">
        <p14:creationId xmlns:p14="http://schemas.microsoft.com/office/powerpoint/2010/main" val="296827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4EDAFE-5336-EE0D-2121-0ABF50262552}"/>
              </a:ext>
            </a:extLst>
          </p:cNvPr>
          <p:cNvPicPr>
            <a:picLocks noChangeAspect="1"/>
          </p:cNvPicPr>
          <p:nvPr/>
        </p:nvPicPr>
        <p:blipFill>
          <a:blip r:embed="rId2">
            <a:extLst>
              <a:ext uri="{28A0092B-C50C-407E-A947-70E740481C1C}">
                <a14:useLocalDpi xmlns:a14="http://schemas.microsoft.com/office/drawing/2010/main" val="0"/>
              </a:ext>
            </a:extLst>
          </a:blip>
          <a:srcRect r="22584" b="2038"/>
          <a:stretch>
            <a:fillRect/>
          </a:stretch>
        </p:blipFill>
        <p:spPr>
          <a:xfrm>
            <a:off x="3797300" y="1082350"/>
            <a:ext cx="8394700" cy="5430210"/>
          </a:xfrm>
          <a:prstGeom prst="rect">
            <a:avLst/>
          </a:prstGeom>
        </p:spPr>
      </p:pic>
      <p:pic>
        <p:nvPicPr>
          <p:cNvPr id="5" name="Picture 4">
            <a:extLst>
              <a:ext uri="{FF2B5EF4-FFF2-40B4-BE49-F238E27FC236}">
                <a16:creationId xmlns:a16="http://schemas.microsoft.com/office/drawing/2014/main" id="{0ECD7CD7-C9D0-B312-DB20-AC4A31810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82350"/>
            <a:ext cx="3890607" cy="5430209"/>
          </a:xfrm>
          <a:prstGeom prst="rect">
            <a:avLst/>
          </a:prstGeom>
        </p:spPr>
      </p:pic>
      <p:sp>
        <p:nvSpPr>
          <p:cNvPr id="6" name="TextBox 5">
            <a:extLst>
              <a:ext uri="{FF2B5EF4-FFF2-40B4-BE49-F238E27FC236}">
                <a16:creationId xmlns:a16="http://schemas.microsoft.com/office/drawing/2014/main" id="{442B844E-1DC5-B737-0D84-14C0FF0D953F}"/>
              </a:ext>
            </a:extLst>
          </p:cNvPr>
          <p:cNvSpPr txBox="1"/>
          <p:nvPr/>
        </p:nvSpPr>
        <p:spPr>
          <a:xfrm>
            <a:off x="2248678" y="214604"/>
            <a:ext cx="8210938" cy="584775"/>
          </a:xfrm>
          <a:prstGeom prst="rect">
            <a:avLst/>
          </a:prstGeom>
          <a:noFill/>
        </p:spPr>
        <p:txBody>
          <a:bodyPr wrap="square" rtlCol="0">
            <a:spAutoFit/>
          </a:bodyPr>
          <a:lstStyle/>
          <a:p>
            <a:pPr algn="ctr"/>
            <a:r>
              <a:rPr lang="en-IN" sz="3200" dirty="0">
                <a:latin typeface="Algerian" panose="04020705040A02060702" pitchFamily="82" charset="0"/>
              </a:rPr>
              <a:t>VOTER LOGIN</a:t>
            </a:r>
          </a:p>
        </p:txBody>
      </p:sp>
    </p:spTree>
    <p:extLst>
      <p:ext uri="{BB962C8B-B14F-4D97-AF65-F5344CB8AC3E}">
        <p14:creationId xmlns:p14="http://schemas.microsoft.com/office/powerpoint/2010/main" val="3498685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5AEF06-A816-ECD0-0B3E-33E4C1BEB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746449"/>
            <a:ext cx="12192000" cy="5775650"/>
          </a:xfrm>
          <a:prstGeom prst="rect">
            <a:avLst/>
          </a:prstGeom>
        </p:spPr>
      </p:pic>
      <p:sp>
        <p:nvSpPr>
          <p:cNvPr id="2" name="TextBox 1">
            <a:extLst>
              <a:ext uri="{FF2B5EF4-FFF2-40B4-BE49-F238E27FC236}">
                <a16:creationId xmlns:a16="http://schemas.microsoft.com/office/drawing/2014/main" id="{610FA69D-76F3-F008-1F2B-558E1DC723D4}"/>
              </a:ext>
            </a:extLst>
          </p:cNvPr>
          <p:cNvSpPr txBox="1"/>
          <p:nvPr/>
        </p:nvSpPr>
        <p:spPr>
          <a:xfrm>
            <a:off x="2444620" y="205273"/>
            <a:ext cx="7324531" cy="584775"/>
          </a:xfrm>
          <a:prstGeom prst="rect">
            <a:avLst/>
          </a:prstGeom>
          <a:noFill/>
        </p:spPr>
        <p:txBody>
          <a:bodyPr wrap="square" rtlCol="0">
            <a:spAutoFit/>
          </a:bodyPr>
          <a:lstStyle/>
          <a:p>
            <a:pPr algn="ctr"/>
            <a:r>
              <a:rPr lang="en-IN" sz="3200" dirty="0">
                <a:latin typeface="Algerian" panose="04020705040A02060702" pitchFamily="82" charset="0"/>
              </a:rPr>
              <a:t>USER interface</a:t>
            </a:r>
          </a:p>
        </p:txBody>
      </p:sp>
    </p:spTree>
    <p:extLst>
      <p:ext uri="{BB962C8B-B14F-4D97-AF65-F5344CB8AC3E}">
        <p14:creationId xmlns:p14="http://schemas.microsoft.com/office/powerpoint/2010/main" val="2366091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F810E5-28EE-C67D-C6BA-382CCBD1B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02433"/>
            <a:ext cx="12191999" cy="5726186"/>
          </a:xfrm>
          <a:prstGeom prst="rect">
            <a:avLst/>
          </a:prstGeom>
        </p:spPr>
      </p:pic>
      <p:sp>
        <p:nvSpPr>
          <p:cNvPr id="2" name="TextBox 1">
            <a:extLst>
              <a:ext uri="{FF2B5EF4-FFF2-40B4-BE49-F238E27FC236}">
                <a16:creationId xmlns:a16="http://schemas.microsoft.com/office/drawing/2014/main" id="{5AEAB4C7-F24B-99AF-C77F-53DF19EE0A9B}"/>
              </a:ext>
            </a:extLst>
          </p:cNvPr>
          <p:cNvSpPr txBox="1"/>
          <p:nvPr/>
        </p:nvSpPr>
        <p:spPr>
          <a:xfrm>
            <a:off x="2220685" y="68124"/>
            <a:ext cx="8201609" cy="584775"/>
          </a:xfrm>
          <a:prstGeom prst="rect">
            <a:avLst/>
          </a:prstGeom>
          <a:noFill/>
        </p:spPr>
        <p:txBody>
          <a:bodyPr wrap="square" rtlCol="0">
            <a:spAutoFit/>
          </a:bodyPr>
          <a:lstStyle/>
          <a:p>
            <a:pPr algn="ctr"/>
            <a:r>
              <a:rPr lang="en-IN" sz="3200" dirty="0">
                <a:latin typeface="Algerian" panose="04020705040A02060702" pitchFamily="82" charset="0"/>
              </a:rPr>
              <a:t>USER DASHBOARD</a:t>
            </a:r>
          </a:p>
        </p:txBody>
      </p:sp>
    </p:spTree>
    <p:extLst>
      <p:ext uri="{BB962C8B-B14F-4D97-AF65-F5344CB8AC3E}">
        <p14:creationId xmlns:p14="http://schemas.microsoft.com/office/powerpoint/2010/main" val="1353424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3CCE9B-095D-A0FB-4E43-BC0BEFDD1C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0465"/>
            <a:ext cx="4823927" cy="5822302"/>
          </a:xfrm>
          <a:prstGeom prst="rect">
            <a:avLst/>
          </a:prstGeom>
        </p:spPr>
      </p:pic>
      <p:pic>
        <p:nvPicPr>
          <p:cNvPr id="7" name="Picture 6">
            <a:extLst>
              <a:ext uri="{FF2B5EF4-FFF2-40B4-BE49-F238E27FC236}">
                <a16:creationId xmlns:a16="http://schemas.microsoft.com/office/drawing/2014/main" id="{E2E419B2-3969-ED02-8067-DE0F65AD4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0" y="690465"/>
            <a:ext cx="6096000" cy="3086100"/>
          </a:xfrm>
          <a:prstGeom prst="rect">
            <a:avLst/>
          </a:prstGeom>
        </p:spPr>
      </p:pic>
      <p:sp>
        <p:nvSpPr>
          <p:cNvPr id="8" name="TextBox 7">
            <a:extLst>
              <a:ext uri="{FF2B5EF4-FFF2-40B4-BE49-F238E27FC236}">
                <a16:creationId xmlns:a16="http://schemas.microsoft.com/office/drawing/2014/main" id="{EF2BB9FC-14A8-EDBF-8F5B-9718E5103B1A}"/>
              </a:ext>
            </a:extLst>
          </p:cNvPr>
          <p:cNvSpPr txBox="1"/>
          <p:nvPr/>
        </p:nvSpPr>
        <p:spPr>
          <a:xfrm>
            <a:off x="2668555" y="130629"/>
            <a:ext cx="7081935" cy="646331"/>
          </a:xfrm>
          <a:prstGeom prst="rect">
            <a:avLst/>
          </a:prstGeom>
          <a:noFill/>
        </p:spPr>
        <p:txBody>
          <a:bodyPr wrap="square" rtlCol="0">
            <a:spAutoFit/>
          </a:bodyPr>
          <a:lstStyle/>
          <a:p>
            <a:pPr algn="ctr"/>
            <a:r>
              <a:rPr lang="en-IN" sz="3600" dirty="0">
                <a:latin typeface="Algerian" panose="04020705040A02060702" pitchFamily="82" charset="0"/>
              </a:rPr>
              <a:t>VOTE CASTING</a:t>
            </a:r>
          </a:p>
        </p:txBody>
      </p:sp>
    </p:spTree>
    <p:extLst>
      <p:ext uri="{BB962C8B-B14F-4D97-AF65-F5344CB8AC3E}">
        <p14:creationId xmlns:p14="http://schemas.microsoft.com/office/powerpoint/2010/main" val="3908996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B5B021-61EB-4480-7577-187B3BF59A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9768"/>
            <a:ext cx="12192000" cy="5899354"/>
          </a:xfrm>
          <a:prstGeom prst="rect">
            <a:avLst/>
          </a:prstGeom>
        </p:spPr>
      </p:pic>
      <p:sp>
        <p:nvSpPr>
          <p:cNvPr id="5" name="TextBox 4">
            <a:extLst>
              <a:ext uri="{FF2B5EF4-FFF2-40B4-BE49-F238E27FC236}">
                <a16:creationId xmlns:a16="http://schemas.microsoft.com/office/drawing/2014/main" id="{29EBE7C0-5F7C-6788-1D1F-7BC7609B4E49}"/>
              </a:ext>
            </a:extLst>
          </p:cNvPr>
          <p:cNvSpPr txBox="1"/>
          <p:nvPr/>
        </p:nvSpPr>
        <p:spPr>
          <a:xfrm>
            <a:off x="845574" y="97268"/>
            <a:ext cx="9783096" cy="523220"/>
          </a:xfrm>
          <a:prstGeom prst="rect">
            <a:avLst/>
          </a:prstGeom>
          <a:noFill/>
        </p:spPr>
        <p:txBody>
          <a:bodyPr wrap="square" rtlCol="0">
            <a:spAutoFit/>
          </a:bodyPr>
          <a:lstStyle/>
          <a:p>
            <a:pPr algn="ctr"/>
            <a:r>
              <a:rPr lang="en-US" sz="2800" dirty="0">
                <a:latin typeface="Algerian" panose="04020705040A02060702" pitchFamily="82" charset="0"/>
                <a:cs typeface="Times New Roman" panose="02020603050405020304" pitchFamily="18" charset="0"/>
              </a:rPr>
              <a:t>ADMIN DASHBOARD</a:t>
            </a:r>
            <a:endParaRPr lang="en-IN" sz="2800" dirty="0">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val="366636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09A7D9-1AA6-8223-2C90-97488F314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3102"/>
            <a:ext cx="12192000" cy="5706020"/>
          </a:xfrm>
          <a:prstGeom prst="rect">
            <a:avLst/>
          </a:prstGeom>
        </p:spPr>
      </p:pic>
      <p:sp>
        <p:nvSpPr>
          <p:cNvPr id="2" name="TextBox 1">
            <a:extLst>
              <a:ext uri="{FF2B5EF4-FFF2-40B4-BE49-F238E27FC236}">
                <a16:creationId xmlns:a16="http://schemas.microsoft.com/office/drawing/2014/main" id="{33C8998B-01A6-9A71-3255-FB51EF4CFF5B}"/>
              </a:ext>
            </a:extLst>
          </p:cNvPr>
          <p:cNvSpPr txBox="1"/>
          <p:nvPr/>
        </p:nvSpPr>
        <p:spPr>
          <a:xfrm>
            <a:off x="2202025" y="195943"/>
            <a:ext cx="7959012" cy="584775"/>
          </a:xfrm>
          <a:prstGeom prst="rect">
            <a:avLst/>
          </a:prstGeom>
          <a:noFill/>
        </p:spPr>
        <p:txBody>
          <a:bodyPr wrap="square" rtlCol="0">
            <a:spAutoFit/>
          </a:bodyPr>
          <a:lstStyle/>
          <a:p>
            <a:pPr algn="ctr"/>
            <a:r>
              <a:rPr lang="en-IN" sz="3200" dirty="0">
                <a:latin typeface="Algerian" panose="04020705040A02060702" pitchFamily="82" charset="0"/>
              </a:rPr>
              <a:t>ELECTION MANAGEMENT</a:t>
            </a:r>
          </a:p>
        </p:txBody>
      </p:sp>
    </p:spTree>
    <p:extLst>
      <p:ext uri="{BB962C8B-B14F-4D97-AF65-F5344CB8AC3E}">
        <p14:creationId xmlns:p14="http://schemas.microsoft.com/office/powerpoint/2010/main" val="21707427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1D6897-7348-A00C-EBC7-825EE2C7E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99795"/>
            <a:ext cx="12192000" cy="5820067"/>
          </a:xfrm>
          <a:prstGeom prst="rect">
            <a:avLst/>
          </a:prstGeom>
        </p:spPr>
      </p:pic>
      <p:sp>
        <p:nvSpPr>
          <p:cNvPr id="2" name="TextBox 1">
            <a:extLst>
              <a:ext uri="{FF2B5EF4-FFF2-40B4-BE49-F238E27FC236}">
                <a16:creationId xmlns:a16="http://schemas.microsoft.com/office/drawing/2014/main" id="{B1BB3C6B-BC40-27AA-D270-CCFE69C8A017}"/>
              </a:ext>
            </a:extLst>
          </p:cNvPr>
          <p:cNvSpPr txBox="1"/>
          <p:nvPr/>
        </p:nvSpPr>
        <p:spPr>
          <a:xfrm>
            <a:off x="2677886" y="139959"/>
            <a:ext cx="6941975" cy="584775"/>
          </a:xfrm>
          <a:prstGeom prst="rect">
            <a:avLst/>
          </a:prstGeom>
          <a:noFill/>
        </p:spPr>
        <p:txBody>
          <a:bodyPr wrap="square" rtlCol="0">
            <a:spAutoFit/>
          </a:bodyPr>
          <a:lstStyle/>
          <a:p>
            <a:pPr algn="ctr"/>
            <a:r>
              <a:rPr lang="en-IN" sz="3200" dirty="0">
                <a:latin typeface="Algerian" panose="04020705040A02060702" pitchFamily="82" charset="0"/>
              </a:rPr>
              <a:t>ELECTION RESULTS</a:t>
            </a:r>
          </a:p>
        </p:txBody>
      </p:sp>
    </p:spTree>
    <p:extLst>
      <p:ext uri="{BB962C8B-B14F-4D97-AF65-F5344CB8AC3E}">
        <p14:creationId xmlns:p14="http://schemas.microsoft.com/office/powerpoint/2010/main" val="4038188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2F16CA-4DFD-1E24-F7B3-F512B9B90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8498"/>
            <a:ext cx="12192000" cy="5959954"/>
          </a:xfrm>
          <a:prstGeom prst="rect">
            <a:avLst/>
          </a:prstGeom>
        </p:spPr>
      </p:pic>
      <p:sp>
        <p:nvSpPr>
          <p:cNvPr id="2" name="TextBox 1">
            <a:extLst>
              <a:ext uri="{FF2B5EF4-FFF2-40B4-BE49-F238E27FC236}">
                <a16:creationId xmlns:a16="http://schemas.microsoft.com/office/drawing/2014/main" id="{37CB4ECA-602B-530E-0EFA-4FA2EDCB44DF}"/>
              </a:ext>
            </a:extLst>
          </p:cNvPr>
          <p:cNvSpPr txBox="1"/>
          <p:nvPr/>
        </p:nvSpPr>
        <p:spPr>
          <a:xfrm>
            <a:off x="5047861" y="-6277"/>
            <a:ext cx="5113175" cy="584775"/>
          </a:xfrm>
          <a:prstGeom prst="rect">
            <a:avLst/>
          </a:prstGeom>
          <a:noFill/>
        </p:spPr>
        <p:txBody>
          <a:bodyPr wrap="square" rtlCol="0">
            <a:spAutoFit/>
          </a:bodyPr>
          <a:lstStyle/>
          <a:p>
            <a:r>
              <a:rPr lang="en-IN" sz="3200" dirty="0">
                <a:latin typeface="Algerian" panose="04020705040A02060702" pitchFamily="82" charset="0"/>
              </a:rPr>
              <a:t>RESULTS</a:t>
            </a:r>
          </a:p>
        </p:txBody>
      </p:sp>
    </p:spTree>
    <p:extLst>
      <p:ext uri="{BB962C8B-B14F-4D97-AF65-F5344CB8AC3E}">
        <p14:creationId xmlns:p14="http://schemas.microsoft.com/office/powerpoint/2010/main" val="3553187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E38D6D-D227-B215-F35F-8CDE5C16DE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7118"/>
            <a:ext cx="12192000" cy="6120882"/>
          </a:xfrm>
          <a:prstGeom prst="rect">
            <a:avLst/>
          </a:prstGeom>
        </p:spPr>
      </p:pic>
      <p:sp>
        <p:nvSpPr>
          <p:cNvPr id="2" name="TextBox 1">
            <a:extLst>
              <a:ext uri="{FF2B5EF4-FFF2-40B4-BE49-F238E27FC236}">
                <a16:creationId xmlns:a16="http://schemas.microsoft.com/office/drawing/2014/main" id="{29AF00B0-4E18-037E-FAA2-D7DF2B31413F}"/>
              </a:ext>
            </a:extLst>
          </p:cNvPr>
          <p:cNvSpPr txBox="1"/>
          <p:nvPr/>
        </p:nvSpPr>
        <p:spPr>
          <a:xfrm>
            <a:off x="2202024" y="130629"/>
            <a:ext cx="7259216" cy="584775"/>
          </a:xfrm>
          <a:prstGeom prst="rect">
            <a:avLst/>
          </a:prstGeom>
          <a:noFill/>
        </p:spPr>
        <p:txBody>
          <a:bodyPr wrap="square" rtlCol="0">
            <a:spAutoFit/>
          </a:bodyPr>
          <a:lstStyle/>
          <a:p>
            <a:pPr algn="ctr"/>
            <a:r>
              <a:rPr lang="en-IN" sz="3200" dirty="0">
                <a:latin typeface="Algerian" panose="04020705040A02060702" pitchFamily="82" charset="0"/>
              </a:rPr>
              <a:t>BLOCKCHAIN EXPLORER</a:t>
            </a:r>
          </a:p>
        </p:txBody>
      </p:sp>
    </p:spTree>
    <p:extLst>
      <p:ext uri="{BB962C8B-B14F-4D97-AF65-F5344CB8AC3E}">
        <p14:creationId xmlns:p14="http://schemas.microsoft.com/office/powerpoint/2010/main" val="2937852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D8B9-D1A1-55A4-5EDD-16287D620B9B}"/>
              </a:ext>
            </a:extLst>
          </p:cNvPr>
          <p:cNvSpPr>
            <a:spLocks noGrp="1"/>
          </p:cNvSpPr>
          <p:nvPr>
            <p:ph type="title"/>
          </p:nvPr>
        </p:nvSpPr>
        <p:spPr>
          <a:xfrm>
            <a:off x="415600" y="-58624"/>
            <a:ext cx="11360800" cy="810400"/>
          </a:xfrm>
        </p:spPr>
        <p:txBody>
          <a:bodyPr>
            <a:noAutofit/>
          </a:bodyPr>
          <a:lstStyle/>
          <a:p>
            <a:r>
              <a:rPr lang="en-IN" sz="4400" dirty="0">
                <a:latin typeface="Algerian" panose="04020705040A02060702" pitchFamily="82" charset="0"/>
              </a:rPr>
              <a:t>Comparison (existing vs. proposed)</a:t>
            </a:r>
          </a:p>
        </p:txBody>
      </p:sp>
      <p:graphicFrame>
        <p:nvGraphicFramePr>
          <p:cNvPr id="5" name="Table 4">
            <a:extLst>
              <a:ext uri="{FF2B5EF4-FFF2-40B4-BE49-F238E27FC236}">
                <a16:creationId xmlns:a16="http://schemas.microsoft.com/office/drawing/2014/main" id="{8116A7A7-C31C-6B45-DF33-2F4E35BEAB2F}"/>
              </a:ext>
            </a:extLst>
          </p:cNvPr>
          <p:cNvGraphicFramePr>
            <a:graphicFrameLocks noGrp="1"/>
          </p:cNvGraphicFramePr>
          <p:nvPr>
            <p:extLst>
              <p:ext uri="{D42A27DB-BD31-4B8C-83A1-F6EECF244321}">
                <p14:modId xmlns:p14="http://schemas.microsoft.com/office/powerpoint/2010/main" val="306406107"/>
              </p:ext>
            </p:extLst>
          </p:nvPr>
        </p:nvGraphicFramePr>
        <p:xfrm>
          <a:off x="162560" y="751776"/>
          <a:ext cx="11841480" cy="5689859"/>
        </p:xfrm>
        <a:graphic>
          <a:graphicData uri="http://schemas.openxmlformats.org/drawingml/2006/table">
            <a:tbl>
              <a:tblPr firstRow="1" bandRow="1">
                <a:tableStyleId>{5C22544A-7EE6-4342-B048-85BDC9FD1C3A}</a:tableStyleId>
              </a:tblPr>
              <a:tblGrid>
                <a:gridCol w="3755972">
                  <a:extLst>
                    <a:ext uri="{9D8B030D-6E8A-4147-A177-3AD203B41FA5}">
                      <a16:colId xmlns:a16="http://schemas.microsoft.com/office/drawing/2014/main" val="428022669"/>
                    </a:ext>
                  </a:extLst>
                </a:gridCol>
                <a:gridCol w="4042754">
                  <a:extLst>
                    <a:ext uri="{9D8B030D-6E8A-4147-A177-3AD203B41FA5}">
                      <a16:colId xmlns:a16="http://schemas.microsoft.com/office/drawing/2014/main" val="2950741705"/>
                    </a:ext>
                  </a:extLst>
                </a:gridCol>
                <a:gridCol w="4042754">
                  <a:extLst>
                    <a:ext uri="{9D8B030D-6E8A-4147-A177-3AD203B41FA5}">
                      <a16:colId xmlns:a16="http://schemas.microsoft.com/office/drawing/2014/main" val="4097161911"/>
                    </a:ext>
                  </a:extLst>
                </a:gridCol>
              </a:tblGrid>
              <a:tr h="363593">
                <a:tc>
                  <a:txBody>
                    <a:bodyPr/>
                    <a:lstStyle/>
                    <a:p>
                      <a:r>
                        <a:rPr lang="en-IN" dirty="0"/>
                        <a:t>Parameter</a:t>
                      </a:r>
                    </a:p>
                  </a:txBody>
                  <a:tcPr/>
                </a:tc>
                <a:tc>
                  <a:txBody>
                    <a:bodyPr/>
                    <a:lstStyle/>
                    <a:p>
                      <a:r>
                        <a:rPr lang="en-IN" dirty="0"/>
                        <a:t>Existing Systems (EVM )</a:t>
                      </a:r>
                    </a:p>
                  </a:txBody>
                  <a:tcPr/>
                </a:tc>
                <a:tc>
                  <a:txBody>
                    <a:bodyPr/>
                    <a:lstStyle/>
                    <a:p>
                      <a:r>
                        <a:rPr lang="en-IN" dirty="0"/>
                        <a:t>Proposed System (iBallot)</a:t>
                      </a:r>
                    </a:p>
                  </a:txBody>
                  <a:tcPr/>
                </a:tc>
                <a:extLst>
                  <a:ext uri="{0D108BD9-81ED-4DB2-BD59-A6C34878D82A}">
                    <a16:rowId xmlns:a16="http://schemas.microsoft.com/office/drawing/2014/main" val="2156242667"/>
                  </a:ext>
                </a:extLst>
              </a:tr>
              <a:tr h="911541">
                <a:tc>
                  <a:txBody>
                    <a:bodyPr/>
                    <a:lstStyle/>
                    <a:p>
                      <a:r>
                        <a:rPr lang="en-IN" sz="2000" dirty="0">
                          <a:latin typeface="Times New Roman" panose="02020603050405020304" pitchFamily="18" charset="0"/>
                          <a:cs typeface="Times New Roman" panose="02020603050405020304" pitchFamily="18" charset="0"/>
                        </a:rPr>
                        <a:t>Architecture</a:t>
                      </a:r>
                    </a:p>
                  </a:txBody>
                  <a:tcPr/>
                </a:tc>
                <a:tc>
                  <a:txBody>
                    <a:bodyPr/>
                    <a:lstStyle/>
                    <a:p>
                      <a:r>
                        <a:rPr lang="en-US" sz="2000" dirty="0">
                          <a:latin typeface="Times New Roman" panose="02020603050405020304" pitchFamily="18" charset="0"/>
                          <a:cs typeface="Times New Roman" panose="02020603050405020304" pitchFamily="18" charset="0"/>
                        </a:rPr>
                        <a:t>Standalone Hardware: Isolated chips; physical access required for counting.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Decentralized: Distributed ledger; data exists across the entire network.</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7304336"/>
                  </a:ext>
                </a:extLst>
              </a:tr>
              <a:tr h="972691">
                <a:tc>
                  <a:txBody>
                    <a:bodyPr/>
                    <a:lstStyle/>
                    <a:p>
                      <a:r>
                        <a:rPr lang="en-IN" sz="2000" dirty="0">
                          <a:latin typeface="Times New Roman" panose="02020603050405020304" pitchFamily="18" charset="0"/>
                          <a:cs typeface="Times New Roman" panose="02020603050405020304" pitchFamily="18" charset="0"/>
                        </a:rPr>
                        <a:t>Data Integrity</a:t>
                      </a:r>
                    </a:p>
                  </a:txBody>
                  <a:tcPr/>
                </a:tc>
                <a:tc>
                  <a:txBody>
                    <a:bodyPr/>
                    <a:lstStyle/>
                    <a:p>
                      <a:r>
                        <a:rPr lang="en-US" sz="2000" dirty="0">
                          <a:latin typeface="Times New Roman" panose="02020603050405020304" pitchFamily="18" charset="0"/>
                          <a:cs typeface="Times New Roman" panose="02020603050405020304" pitchFamily="18" charset="0"/>
                        </a:rPr>
                        <a:t>Hardware Dependent: Vulnerable to chip replacement or physical tampering.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Immutable: Cryptographically sealed; mathematically impossible to alter history.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3297095"/>
                  </a:ext>
                </a:extLst>
              </a:tr>
              <a:tr h="844807">
                <a:tc>
                  <a:txBody>
                    <a:bodyPr/>
                    <a:lstStyle/>
                    <a:p>
                      <a:r>
                        <a:rPr lang="en-IN" sz="2000" dirty="0">
                          <a:latin typeface="Times New Roman" panose="02020603050405020304" pitchFamily="18" charset="0"/>
                          <a:cs typeface="Times New Roman" panose="02020603050405020304" pitchFamily="18" charset="0"/>
                        </a:rPr>
                        <a:t>Transparency</a:t>
                      </a:r>
                    </a:p>
                  </a:txBody>
                  <a:tcPr/>
                </a:tc>
                <a:tc>
                  <a:txBody>
                    <a:bodyPr/>
                    <a:lstStyle/>
                    <a:p>
                      <a:r>
                        <a:rPr lang="en-US" sz="2000" dirty="0">
                          <a:latin typeface="Times New Roman" panose="02020603050405020304" pitchFamily="18" charset="0"/>
                          <a:cs typeface="Times New Roman" panose="02020603050405020304" pitchFamily="18" charset="0"/>
                        </a:rPr>
                        <a:t>"Black Box": Counting logic is hidden inside the machine's circuit.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Open Source: Smart Contract logic is public and verifiable by anyone.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798929"/>
                  </a:ext>
                </a:extLst>
              </a:tr>
              <a:tr h="972691">
                <a:tc>
                  <a:txBody>
                    <a:bodyPr/>
                    <a:lstStyle/>
                    <a:p>
                      <a:r>
                        <a:rPr lang="en-IN" sz="2000" dirty="0">
                          <a:latin typeface="Times New Roman" panose="02020603050405020304" pitchFamily="18" charset="0"/>
                          <a:cs typeface="Times New Roman" panose="02020603050405020304" pitchFamily="18" charset="0"/>
                        </a:rPr>
                        <a:t>Audit Trail</a:t>
                      </a:r>
                    </a:p>
                  </a:txBody>
                  <a:tcPr/>
                </a:tc>
                <a:tc>
                  <a:txBody>
                    <a:bodyPr/>
                    <a:lstStyle/>
                    <a:p>
                      <a:r>
                        <a:rPr lang="en-US" sz="2000" dirty="0">
                          <a:latin typeface="Times New Roman" panose="02020603050405020304" pitchFamily="18" charset="0"/>
                          <a:cs typeface="Times New Roman" panose="02020603050405020304" pitchFamily="18" charset="0"/>
                        </a:rPr>
                        <a:t>Paper VVPAT: Physical slips can be lost, damaged, or miscounted.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Digital: Instant, permanent Transaction Hash (0x...) for every vote.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4228992"/>
                  </a:ext>
                </a:extLst>
              </a:tr>
              <a:tr h="844807">
                <a:tc>
                  <a:txBody>
                    <a:bodyPr/>
                    <a:lstStyle/>
                    <a:p>
                      <a:r>
                        <a:rPr lang="en-IN" sz="2000" dirty="0">
                          <a:latin typeface="Times New Roman" panose="02020603050405020304" pitchFamily="18" charset="0"/>
                          <a:cs typeface="Times New Roman" panose="02020603050405020304" pitchFamily="18" charset="0"/>
                        </a:rPr>
                        <a:t>Cost</a:t>
                      </a:r>
                    </a:p>
                  </a:txBody>
                  <a:tcPr/>
                </a:tc>
                <a:tc>
                  <a:txBody>
                    <a:bodyPr/>
                    <a:lstStyle/>
                    <a:p>
                      <a:r>
                        <a:rPr lang="en-US" sz="2000" dirty="0">
                          <a:latin typeface="Times New Roman" panose="02020603050405020304" pitchFamily="18" charset="0"/>
                          <a:cs typeface="Times New Roman" panose="02020603050405020304" pitchFamily="18" charset="0"/>
                        </a:rPr>
                        <a:t>High: Expensive manufacturing, storage, transport, and security.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Low: Software-based; uses "Gasless" Relayer for minimal fees.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680185"/>
                  </a:ext>
                </a:extLst>
              </a:tr>
              <a:tr h="677936">
                <a:tc>
                  <a:txBody>
                    <a:bodyPr/>
                    <a:lstStyle/>
                    <a:p>
                      <a:r>
                        <a:rPr lang="en-IN" sz="2000" dirty="0">
                          <a:latin typeface="Times New Roman" panose="02020603050405020304" pitchFamily="18" charset="0"/>
                          <a:cs typeface="Times New Roman" panose="02020603050405020304" pitchFamily="18" charset="0"/>
                        </a:rPr>
                        <a:t>Accessibility</a:t>
                      </a:r>
                    </a:p>
                  </a:txBody>
                  <a:tcPr/>
                </a:tc>
                <a:tc>
                  <a:txBody>
                    <a:bodyPr/>
                    <a:lstStyle/>
                    <a:p>
                      <a:r>
                        <a:rPr lang="en-US" sz="2000" dirty="0">
                          <a:latin typeface="Times New Roman" panose="02020603050405020304" pitchFamily="18" charset="0"/>
                          <a:cs typeface="Times New Roman" panose="02020603050405020304" pitchFamily="18" charset="0"/>
                        </a:rPr>
                        <a:t>Restricted: Voters must travel to specific physical booths.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Universal: Remote voting from anywhere via secure web portal.</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323044"/>
                  </a:ext>
                </a:extLst>
              </a:tr>
            </a:tbl>
          </a:graphicData>
        </a:graphic>
      </p:graphicFrame>
    </p:spTree>
    <p:extLst>
      <p:ext uri="{BB962C8B-B14F-4D97-AF65-F5344CB8AC3E}">
        <p14:creationId xmlns:p14="http://schemas.microsoft.com/office/powerpoint/2010/main" val="1016004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E74F-68A7-FCC1-85DC-BB51F73551A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518DF23-5796-60AE-A4DF-4D306483EB3C}"/>
              </a:ext>
            </a:extLst>
          </p:cNvPr>
          <p:cNvGraphicFramePr>
            <a:graphicFrameLocks noGrp="1"/>
          </p:cNvGraphicFramePr>
          <p:nvPr>
            <p:extLst>
              <p:ext uri="{D42A27DB-BD31-4B8C-83A1-F6EECF244321}">
                <p14:modId xmlns:p14="http://schemas.microsoft.com/office/powerpoint/2010/main" val="2909038875"/>
              </p:ext>
            </p:extLst>
          </p:nvPr>
        </p:nvGraphicFramePr>
        <p:xfrm>
          <a:off x="131875" y="130456"/>
          <a:ext cx="11928250" cy="6624384"/>
        </p:xfrm>
        <a:graphic>
          <a:graphicData uri="http://schemas.openxmlformats.org/drawingml/2006/table">
            <a:tbl>
              <a:tblPr firstRow="1" bandRow="1">
                <a:tableStyleId>{5C22544A-7EE6-4342-B048-85BDC9FD1C3A}</a:tableStyleId>
              </a:tblPr>
              <a:tblGrid>
                <a:gridCol w="3783494">
                  <a:extLst>
                    <a:ext uri="{9D8B030D-6E8A-4147-A177-3AD203B41FA5}">
                      <a16:colId xmlns:a16="http://schemas.microsoft.com/office/drawing/2014/main" val="428022669"/>
                    </a:ext>
                  </a:extLst>
                </a:gridCol>
                <a:gridCol w="4072378">
                  <a:extLst>
                    <a:ext uri="{9D8B030D-6E8A-4147-A177-3AD203B41FA5}">
                      <a16:colId xmlns:a16="http://schemas.microsoft.com/office/drawing/2014/main" val="2950741705"/>
                    </a:ext>
                  </a:extLst>
                </a:gridCol>
                <a:gridCol w="4072378">
                  <a:extLst>
                    <a:ext uri="{9D8B030D-6E8A-4147-A177-3AD203B41FA5}">
                      <a16:colId xmlns:a16="http://schemas.microsoft.com/office/drawing/2014/main" val="4097161911"/>
                    </a:ext>
                  </a:extLst>
                </a:gridCol>
              </a:tblGrid>
              <a:tr h="371207">
                <a:tc>
                  <a:txBody>
                    <a:bodyPr/>
                    <a:lstStyle/>
                    <a:p>
                      <a:r>
                        <a:rPr lang="en-IN" dirty="0"/>
                        <a:t>Parameter</a:t>
                      </a:r>
                    </a:p>
                  </a:txBody>
                  <a:tcPr/>
                </a:tc>
                <a:tc>
                  <a:txBody>
                    <a:bodyPr/>
                    <a:lstStyle/>
                    <a:p>
                      <a:r>
                        <a:rPr lang="en-IN" dirty="0"/>
                        <a:t>Existing Systems (Apps)</a:t>
                      </a:r>
                    </a:p>
                  </a:txBody>
                  <a:tcPr/>
                </a:tc>
                <a:tc>
                  <a:txBody>
                    <a:bodyPr/>
                    <a:lstStyle/>
                    <a:p>
                      <a:r>
                        <a:rPr lang="en-IN" dirty="0"/>
                        <a:t>Proposed System (iBallot)</a:t>
                      </a:r>
                    </a:p>
                  </a:txBody>
                  <a:tcPr/>
                </a:tc>
                <a:extLst>
                  <a:ext uri="{0D108BD9-81ED-4DB2-BD59-A6C34878D82A}">
                    <a16:rowId xmlns:a16="http://schemas.microsoft.com/office/drawing/2014/main" val="2156242667"/>
                  </a:ext>
                </a:extLst>
              </a:tr>
              <a:tr h="991823">
                <a:tc>
                  <a:txBody>
                    <a:bodyPr/>
                    <a:lstStyle/>
                    <a:p>
                      <a:r>
                        <a:rPr lang="en-IN" sz="2000" dirty="0">
                          <a:latin typeface="Times New Roman" panose="02020603050405020304" pitchFamily="18" charset="0"/>
                          <a:cs typeface="Times New Roman" panose="02020603050405020304" pitchFamily="18" charset="0"/>
                        </a:rPr>
                        <a:t>Trust Architecture</a:t>
                      </a:r>
                    </a:p>
                  </a:txBody>
                  <a:tcPr/>
                </a:tc>
                <a:tc>
                  <a:txBody>
                    <a:bodyPr/>
                    <a:lstStyle/>
                    <a:p>
                      <a:r>
                        <a:rPr lang="en-US" sz="2000" dirty="0">
                          <a:latin typeface="Times New Roman" panose="02020603050405020304" pitchFamily="18" charset="0"/>
                          <a:cs typeface="Times New Roman" panose="02020603050405020304" pitchFamily="18" charset="0"/>
                        </a:rPr>
                        <a:t>Centralized Server: Relies on a central authority (server admin) to host and count votes honestly.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Decentralized Ledger: Relies on Ethereum Smart Contracts; no single entity controls the counting logic.</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7304336"/>
                  </a:ext>
                </a:extLst>
              </a:tr>
              <a:tr h="1292375">
                <a:tc>
                  <a:txBody>
                    <a:bodyPr/>
                    <a:lstStyle/>
                    <a:p>
                      <a:r>
                        <a:rPr lang="en-IN" sz="2000" dirty="0">
                          <a:latin typeface="Times New Roman" panose="02020603050405020304" pitchFamily="18" charset="0"/>
                          <a:cs typeface="Times New Roman" panose="02020603050405020304" pitchFamily="18" charset="0"/>
                        </a:rPr>
                        <a:t>Voter Identity</a:t>
                      </a:r>
                    </a:p>
                  </a:txBody>
                  <a:tcPr/>
                </a:tc>
                <a:tc>
                  <a:txBody>
                    <a:bodyPr/>
                    <a:lstStyle/>
                    <a:p>
                      <a:r>
                        <a:rPr lang="en-US" sz="2000" dirty="0">
                          <a:latin typeface="Times New Roman" panose="02020603050405020304" pitchFamily="18" charset="0"/>
                          <a:cs typeface="Times New Roman" panose="02020603050405020304" pitchFamily="18" charset="0"/>
                        </a:rPr>
                        <a:t>Admin-Managed: Uses email lists or simple passwords created by the election admin (prone to fake accounts).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Government-Verified: Integrates DigiLocker API to strictly authenticate legitimate Indian citizens via Aadhaar.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3297095"/>
                  </a:ext>
                </a:extLst>
              </a:tr>
              <a:tr h="1292375">
                <a:tc>
                  <a:txBody>
                    <a:bodyPr/>
                    <a:lstStyle/>
                    <a:p>
                      <a:r>
                        <a:rPr lang="en-IN" sz="2000" dirty="0">
                          <a:latin typeface="Times New Roman" panose="02020603050405020304" pitchFamily="18" charset="0"/>
                          <a:cs typeface="Times New Roman" panose="02020603050405020304" pitchFamily="18" charset="0"/>
                        </a:rPr>
                        <a:t>Data Storage</a:t>
                      </a:r>
                    </a:p>
                  </a:txBody>
                  <a:tcPr/>
                </a:tc>
                <a:tc>
                  <a:txBody>
                    <a:bodyPr/>
                    <a:lstStyle/>
                    <a:p>
                      <a:r>
                        <a:rPr lang="en-US" sz="2000" dirty="0">
                          <a:latin typeface="Times New Roman" panose="02020603050405020304" pitchFamily="18" charset="0"/>
                          <a:cs typeface="Times New Roman" panose="02020603050405020304" pitchFamily="18" charset="0"/>
                        </a:rPr>
                        <a:t>Private Database: Votes are stored on a cloud database which can be modified or deleted by a super-admin.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Immutable Blockchain: Votes are written to a public block; once mined, they are mathematically impossible to delete or alter.</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798929"/>
                  </a:ext>
                </a:extLst>
              </a:tr>
              <a:tr h="1292375">
                <a:tc>
                  <a:txBody>
                    <a:bodyPr/>
                    <a:lstStyle/>
                    <a:p>
                      <a:r>
                        <a:rPr lang="en-IN" sz="2000" dirty="0">
                          <a:latin typeface="Times New Roman" panose="02020603050405020304" pitchFamily="18" charset="0"/>
                          <a:cs typeface="Times New Roman" panose="02020603050405020304" pitchFamily="18" charset="0"/>
                        </a:rPr>
                        <a:t>Security Model</a:t>
                      </a:r>
                    </a:p>
                  </a:txBody>
                  <a:tcPr/>
                </a:tc>
                <a:tc>
                  <a:txBody>
                    <a:bodyPr/>
                    <a:lstStyle/>
                    <a:p>
                      <a:r>
                        <a:rPr lang="en-US" sz="2000" dirty="0">
                          <a:latin typeface="Times New Roman" panose="02020603050405020304" pitchFamily="18" charset="0"/>
                          <a:cs typeface="Times New Roman" panose="02020603050405020304" pitchFamily="18" charset="0"/>
                        </a:rPr>
                        <a:t>Encryption-Based: Uses complex cryptography to hide votes, but the server itself is a single point of failure (DDoS risk).</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Distribution-Based: Data exists on thousands of nodes simultaneously, making the system resilient to server crashes or hacks.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54228992"/>
                  </a:ext>
                </a:extLst>
              </a:tr>
              <a:tr h="1292375">
                <a:tc>
                  <a:txBody>
                    <a:bodyPr/>
                    <a:lstStyle/>
                    <a:p>
                      <a:r>
                        <a:rPr lang="en-IN" sz="2000" dirty="0">
                          <a:latin typeface="Times New Roman" panose="02020603050405020304" pitchFamily="18" charset="0"/>
                          <a:cs typeface="Times New Roman" panose="02020603050405020304" pitchFamily="18" charset="0"/>
                        </a:rPr>
                        <a:t>Auditability</a:t>
                      </a:r>
                    </a:p>
                  </a:txBody>
                  <a:tcPr/>
                </a:tc>
                <a:tc>
                  <a:txBody>
                    <a:bodyPr/>
                    <a:lstStyle/>
                    <a:p>
                      <a:r>
                        <a:rPr lang="en-US" sz="2000" dirty="0">
                          <a:latin typeface="Times New Roman" panose="02020603050405020304" pitchFamily="18" charset="0"/>
                          <a:cs typeface="Times New Roman" panose="02020603050405020304" pitchFamily="18" charset="0"/>
                        </a:rPr>
                        <a:t>Complex Proofs: Verification requires understanding complex "Zero-Knowledge Proofs" or mix-nets.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Instant Hash: Any user can copy their unique Transaction Hash (0x...) and verify their vote on a public explorer immediately.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680185"/>
                  </a:ext>
                </a:extLst>
              </a:tr>
            </a:tbl>
          </a:graphicData>
        </a:graphic>
      </p:graphicFrame>
    </p:spTree>
    <p:extLst>
      <p:ext uri="{BB962C8B-B14F-4D97-AF65-F5344CB8AC3E}">
        <p14:creationId xmlns:p14="http://schemas.microsoft.com/office/powerpoint/2010/main" val="24700778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94EFA-6B27-135E-8F47-0E6F9BA0D567}"/>
              </a:ext>
            </a:extLst>
          </p:cNvPr>
          <p:cNvSpPr>
            <a:spLocks noGrp="1"/>
          </p:cNvSpPr>
          <p:nvPr>
            <p:ph type="title"/>
          </p:nvPr>
        </p:nvSpPr>
        <p:spPr>
          <a:xfrm>
            <a:off x="647272" y="546667"/>
            <a:ext cx="11129128" cy="810400"/>
          </a:xfrm>
        </p:spPr>
        <p:txBody>
          <a:bodyPr>
            <a:noAutofit/>
          </a:bodyPr>
          <a:lstStyle/>
          <a:p>
            <a:pPr algn="ctr">
              <a:tabLst>
                <a:tab pos="2509838" algn="l"/>
              </a:tabLst>
            </a:pPr>
            <a:r>
              <a:rPr lang="en-IN" sz="4400" dirty="0">
                <a:latin typeface="Algerian" panose="04020705040A02060702" pitchFamily="82" charset="0"/>
              </a:rPr>
              <a:t>CONCLUSION</a:t>
            </a:r>
          </a:p>
        </p:txBody>
      </p:sp>
      <p:sp>
        <p:nvSpPr>
          <p:cNvPr id="3" name="Text Placeholder 2">
            <a:extLst>
              <a:ext uri="{FF2B5EF4-FFF2-40B4-BE49-F238E27FC236}">
                <a16:creationId xmlns:a16="http://schemas.microsoft.com/office/drawing/2014/main" id="{CFF8E26C-476A-5788-DE7B-89D5A1E5BF31}"/>
              </a:ext>
            </a:extLst>
          </p:cNvPr>
          <p:cNvSpPr>
            <a:spLocks noGrp="1"/>
          </p:cNvSpPr>
          <p:nvPr>
            <p:ph type="body" idx="1"/>
          </p:nvPr>
        </p:nvSpPr>
        <p:spPr>
          <a:xfrm>
            <a:off x="415600" y="1639832"/>
            <a:ext cx="11360800" cy="4750807"/>
          </a:xfrm>
        </p:spPr>
        <p:txBody>
          <a:bodyPr>
            <a:normAutofit/>
          </a:bodyPr>
          <a:lstStyle/>
          <a:p>
            <a:pPr marL="152396" indent="0" algn="just">
              <a:lnSpc>
                <a:spcPct val="150000"/>
              </a:lnSpc>
              <a:buNone/>
            </a:pPr>
            <a:r>
              <a:rPr lang="en-US" sz="2200" b="1" dirty="0">
                <a:latin typeface="Times New Roman" panose="02020603050405020304" pitchFamily="18" charset="0"/>
                <a:cs typeface="Times New Roman" panose="02020603050405020304" pitchFamily="18" charset="0"/>
              </a:rPr>
              <a:t>iBallot</a:t>
            </a:r>
            <a:r>
              <a:rPr lang="en-US" sz="2200" dirty="0">
                <a:latin typeface="Times New Roman" panose="02020603050405020304" pitchFamily="18" charset="0"/>
                <a:cs typeface="Times New Roman" panose="02020603050405020304" pitchFamily="18" charset="0"/>
              </a:rPr>
              <a:t> successfully redefines the electoral process by replacing traditional "blind trust" with cryptographic certainty. By integrating the </a:t>
            </a:r>
            <a:r>
              <a:rPr lang="en-US" sz="2200" b="1" dirty="0">
                <a:latin typeface="Times New Roman" panose="02020603050405020304" pitchFamily="18" charset="0"/>
                <a:cs typeface="Times New Roman" panose="02020603050405020304" pitchFamily="18" charset="0"/>
              </a:rPr>
              <a:t>Ethereum blockchain </a:t>
            </a:r>
            <a:r>
              <a:rPr lang="en-US" sz="2200" dirty="0">
                <a:latin typeface="Times New Roman" panose="02020603050405020304" pitchFamily="18" charset="0"/>
                <a:cs typeface="Times New Roman" panose="02020603050405020304" pitchFamily="18" charset="0"/>
              </a:rPr>
              <a:t>for immutable record-keeping and </a:t>
            </a:r>
            <a:r>
              <a:rPr lang="en-US" sz="2200" b="1" dirty="0">
                <a:latin typeface="Times New Roman" panose="02020603050405020304" pitchFamily="18" charset="0"/>
                <a:cs typeface="Times New Roman" panose="02020603050405020304" pitchFamily="18" charset="0"/>
              </a:rPr>
              <a:t>Mock DigiLocker </a:t>
            </a:r>
            <a:r>
              <a:rPr lang="en-US" sz="2200" dirty="0">
                <a:latin typeface="Times New Roman" panose="02020603050405020304" pitchFamily="18" charset="0"/>
                <a:cs typeface="Times New Roman" panose="02020603050405020304" pitchFamily="18" charset="0"/>
              </a:rPr>
              <a:t>for strict identity verification, we have built a system where every vote is verifiable, secure, and permanently tamper-proof. This project ultimately demonstrates that a decentralized approach can restore public confidence in democracy, shifting the paradigm from trusting central authorities to trusting transparent, unchangeable code.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4508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A209B-5CC7-6555-48EE-03EF223D36E9}"/>
              </a:ext>
            </a:extLst>
          </p:cNvPr>
          <p:cNvSpPr>
            <a:spLocks noGrp="1"/>
          </p:cNvSpPr>
          <p:nvPr>
            <p:ph type="title"/>
          </p:nvPr>
        </p:nvSpPr>
        <p:spPr>
          <a:xfrm>
            <a:off x="415600" y="254000"/>
            <a:ext cx="11360800" cy="1103067"/>
          </a:xfrm>
        </p:spPr>
        <p:txBody>
          <a:bodyPr>
            <a:normAutofit/>
          </a:bodyPr>
          <a:lstStyle/>
          <a:p>
            <a:pPr algn="ctr"/>
            <a:r>
              <a:rPr lang="en-IN" sz="4400" dirty="0">
                <a:latin typeface="Algerian" panose="04020705040A02060702" pitchFamily="82" charset="0"/>
              </a:rPr>
              <a:t>FUTURE ENHANCEMENT</a:t>
            </a:r>
          </a:p>
        </p:txBody>
      </p:sp>
      <p:sp>
        <p:nvSpPr>
          <p:cNvPr id="3" name="Text Placeholder 2">
            <a:extLst>
              <a:ext uri="{FF2B5EF4-FFF2-40B4-BE49-F238E27FC236}">
                <a16:creationId xmlns:a16="http://schemas.microsoft.com/office/drawing/2014/main" id="{033BA4B7-8F1F-F7DE-7634-D54DE2C0C1DB}"/>
              </a:ext>
            </a:extLst>
          </p:cNvPr>
          <p:cNvSpPr>
            <a:spLocks noGrp="1"/>
          </p:cNvSpPr>
          <p:nvPr>
            <p:ph type="body" idx="1"/>
          </p:nvPr>
        </p:nvSpPr>
        <p:spPr>
          <a:xfrm>
            <a:off x="415600" y="1194318"/>
            <a:ext cx="11360800" cy="5299787"/>
          </a:xfrm>
        </p:spPr>
        <p:txBody>
          <a:bodyPr>
            <a:normAutofit fontScale="32500" lnSpcReduction="20000"/>
          </a:bodyPr>
          <a:lstStyle/>
          <a:p>
            <a:pPr algn="just">
              <a:lnSpc>
                <a:spcPct val="170000"/>
              </a:lnSpc>
            </a:pPr>
            <a:r>
              <a:rPr lang="en-US" sz="5500" b="1" dirty="0">
                <a:latin typeface="Times New Roman" panose="02020603050405020304" pitchFamily="18" charset="0"/>
                <a:cs typeface="Times New Roman" panose="02020603050405020304" pitchFamily="18" charset="0"/>
              </a:rPr>
              <a:t>Deployment on Polygon Mainnet: </a:t>
            </a:r>
            <a:r>
              <a:rPr lang="en-US" sz="5500" dirty="0">
                <a:latin typeface="Times New Roman" panose="02020603050405020304" pitchFamily="18" charset="0"/>
                <a:cs typeface="Times New Roman" panose="02020603050405020304" pitchFamily="18" charset="0"/>
              </a:rPr>
              <a:t>Currently, the system runs on a test environment. Future development involves deploying the Smart Contracts on the Polygon Mainnet. This Layer-2 solution will drastically reduce gas fees to fractions of a cent and ensure the network can handle the throughput of a national-scale election.</a:t>
            </a:r>
          </a:p>
          <a:p>
            <a:pPr algn="just">
              <a:lnSpc>
                <a:spcPct val="170000"/>
              </a:lnSpc>
            </a:pPr>
            <a:r>
              <a:rPr lang="en-US" sz="5500" b="1" dirty="0">
                <a:latin typeface="Times New Roman" panose="02020603050405020304" pitchFamily="18" charset="0"/>
                <a:cs typeface="Times New Roman" panose="02020603050405020304" pitchFamily="18" charset="0"/>
              </a:rPr>
              <a:t>Live DigiLocker API Integration: </a:t>
            </a:r>
            <a:r>
              <a:rPr lang="en-US" sz="5500" dirty="0">
                <a:latin typeface="Times New Roman" panose="02020603050405020304" pitchFamily="18" charset="0"/>
                <a:cs typeface="Times New Roman" panose="02020603050405020304" pitchFamily="18" charset="0"/>
              </a:rPr>
              <a:t>While the current prototype demonstrates the verification logic, the next phase involves integrating the Live Government DigiLocker API. This will enable real-time authentication of over 1 billion Indian citizens using their official Aadhaar and driving license data, replacing the current development mock environment.</a:t>
            </a:r>
          </a:p>
          <a:p>
            <a:pPr algn="just">
              <a:lnSpc>
                <a:spcPct val="170000"/>
              </a:lnSpc>
            </a:pPr>
            <a:r>
              <a:rPr lang="en-US" sz="5500" b="1" dirty="0">
                <a:latin typeface="Times New Roman" panose="02020603050405020304" pitchFamily="18" charset="0"/>
                <a:cs typeface="Times New Roman" panose="02020603050405020304" pitchFamily="18" charset="0"/>
              </a:rPr>
              <a:t>Zero-Knowledge Proofs (ZKP) </a:t>
            </a:r>
            <a:r>
              <a:rPr lang="en-US" sz="5500" dirty="0">
                <a:latin typeface="Times New Roman" panose="02020603050405020304" pitchFamily="18" charset="0"/>
                <a:cs typeface="Times New Roman" panose="02020603050405020304" pitchFamily="18" charset="0"/>
              </a:rPr>
              <a:t>for Privacy We plan to implement </a:t>
            </a:r>
            <a:r>
              <a:rPr lang="en-US" sz="5500" dirty="0" err="1">
                <a:latin typeface="Times New Roman" panose="02020603050405020304" pitchFamily="18" charset="0"/>
                <a:cs typeface="Times New Roman" panose="02020603050405020304" pitchFamily="18" charset="0"/>
              </a:rPr>
              <a:t>zk</a:t>
            </a:r>
            <a:r>
              <a:rPr lang="en-US" sz="5500" dirty="0">
                <a:latin typeface="Times New Roman" panose="02020603050405020304" pitchFamily="18" charset="0"/>
                <a:cs typeface="Times New Roman" panose="02020603050405020304" pitchFamily="18" charset="0"/>
              </a:rPr>
              <a:t>-SNARKs to upgrade the system from pseudonymity to true anonymity. This advanced cryptographic method allows voters to mathematically prove they are eligible citizens without ever revealing their actual identity or Aadhaar number to the public blockchain, ensuring absolute voter secrecy.</a:t>
            </a:r>
          </a:p>
          <a:p>
            <a:pPr algn="just"/>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64647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F4F1C-18E4-A897-BF56-C1745395C6B0}"/>
              </a:ext>
            </a:extLst>
          </p:cNvPr>
          <p:cNvSpPr>
            <a:spLocks noGrp="1"/>
          </p:cNvSpPr>
          <p:nvPr>
            <p:ph type="title"/>
          </p:nvPr>
        </p:nvSpPr>
        <p:spPr>
          <a:xfrm>
            <a:off x="415600" y="180907"/>
            <a:ext cx="11360800" cy="810400"/>
          </a:xfrm>
        </p:spPr>
        <p:txBody>
          <a:bodyPr>
            <a:normAutofit fontScale="90000"/>
          </a:bodyPr>
          <a:lstStyle/>
          <a:p>
            <a:pPr algn="ctr"/>
            <a:r>
              <a:rPr lang="en-IN" sz="4900" dirty="0">
                <a:latin typeface="Algerian" panose="04020705040A02060702" pitchFamily="82" charset="0"/>
              </a:rPr>
              <a:t>References</a:t>
            </a:r>
            <a:br>
              <a:rPr lang="en-IN" dirty="0">
                <a:latin typeface="Algerian" panose="04020705040A02060702" pitchFamily="82" charset="0"/>
              </a:rPr>
            </a:b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625F2283-EF85-3EFB-3FEA-34E4BFD06855}"/>
              </a:ext>
            </a:extLst>
          </p:cNvPr>
          <p:cNvSpPr>
            <a:spLocks noGrp="1"/>
          </p:cNvSpPr>
          <p:nvPr>
            <p:ph type="body" idx="1"/>
          </p:nvPr>
        </p:nvSpPr>
        <p:spPr>
          <a:xfrm>
            <a:off x="71120" y="1076131"/>
            <a:ext cx="12009120" cy="5364480"/>
          </a:xfrm>
        </p:spPr>
        <p:txBody>
          <a:bodyPr>
            <a:normAutofit lnSpcReduction="10000"/>
          </a:bodyPr>
          <a:lstStyle/>
          <a:p>
            <a:pPr marL="609596" indent="-457200" algn="just">
              <a:buFont typeface="+mj-lt"/>
              <a:buAutoNum type="arabicParenR"/>
            </a:pPr>
            <a:r>
              <a:rPr lang="en-IN" sz="2000" dirty="0">
                <a:latin typeface="Times New Roman" panose="02020603050405020304" pitchFamily="18" charset="0"/>
                <a:cs typeface="Times New Roman" panose="02020603050405020304" pitchFamily="18" charset="0"/>
              </a:rPr>
              <a:t>T. M. Navamani, T. S. Sondhi, and S. </a:t>
            </a:r>
            <a:r>
              <a:rPr lang="en-IN" sz="2000" dirty="0" err="1">
                <a:latin typeface="Times New Roman" panose="02020603050405020304" pitchFamily="18" charset="0"/>
                <a:cs typeface="Times New Roman" panose="02020603050405020304" pitchFamily="18" charset="0"/>
              </a:rPr>
              <a:t>Ghildiyal</a:t>
            </a:r>
            <a:r>
              <a:rPr lang="en-IN" sz="2000" dirty="0">
                <a:latin typeface="Times New Roman" panose="02020603050405020304" pitchFamily="18" charset="0"/>
                <a:cs typeface="Times New Roman" panose="02020603050405020304" pitchFamily="18" charset="0"/>
              </a:rPr>
              <a:t>, “DigiVoter: Blockchain Secured Digital Voting Platform with Aadhaar ID Verification,” ECS Transactions, vol. 107, no. 1, pp. 7427–7440, Apr. 2022. </a:t>
            </a:r>
            <a:r>
              <a:rPr lang="en-IN" sz="2000" dirty="0">
                <a:latin typeface="Times New Roman" panose="02020603050405020304" pitchFamily="18" charset="0"/>
                <a:cs typeface="Times New Roman" panose="02020603050405020304" pitchFamily="18" charset="0"/>
                <a:hlinkClick r:id="rId2"/>
              </a:rPr>
              <a:t>	</a:t>
            </a:r>
            <a:r>
              <a:rPr lang="en-IN" sz="2000" dirty="0" err="1">
                <a:latin typeface="Times New Roman" panose="02020603050405020304" pitchFamily="18" charset="0"/>
                <a:cs typeface="Times New Roman" panose="02020603050405020304" pitchFamily="18" charset="0"/>
                <a:hlinkClick r:id="rId2"/>
              </a:rPr>
              <a:t>DigiVoter</a:t>
            </a:r>
            <a:r>
              <a:rPr lang="en-IN" sz="2000" dirty="0">
                <a:latin typeface="Times New Roman" panose="02020603050405020304" pitchFamily="18" charset="0"/>
                <a:cs typeface="Times New Roman" panose="02020603050405020304" pitchFamily="18" charset="0"/>
                <a:hlinkClick r:id="rId2"/>
              </a:rPr>
              <a:t>: Blockchain Secured Digital Voting Platform with Aadhaar ID Verification - </a:t>
            </a:r>
            <a:r>
              <a:rPr lang="en-IN" sz="2000" dirty="0" err="1">
                <a:latin typeface="Times New Roman" panose="02020603050405020304" pitchFamily="18" charset="0"/>
                <a:cs typeface="Times New Roman" panose="02020603050405020304" pitchFamily="18" charset="0"/>
                <a:hlinkClick r:id="rId2"/>
              </a:rPr>
              <a:t>IOPscience</a:t>
            </a:r>
            <a:endParaRPr lang="en-IN"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endParaRPr lang="en-IN"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r>
              <a:rPr lang="en-US" sz="2000" dirty="0">
                <a:latin typeface="Times New Roman" panose="02020603050405020304" pitchFamily="18" charset="0"/>
                <a:cs typeface="Times New Roman" panose="02020603050405020304" pitchFamily="18" charset="0"/>
              </a:rPr>
              <a:t>Md. Ibrahim, “Design and Development of a Decentralized Voting System Using Blockchain,” International Journal of Communication and Information Technology (IJCIT), vol. 4, no. 1, pp. 1–11, Jan. 2023.		</a:t>
            </a:r>
            <a:r>
              <a:rPr lang="en-US" sz="2000" dirty="0">
                <a:latin typeface="Times New Roman" panose="02020603050405020304" pitchFamily="18" charset="0"/>
                <a:cs typeface="Times New Roman" panose="02020603050405020304" pitchFamily="18" charset="0"/>
                <a:hlinkClick r:id="rId3"/>
              </a:rPr>
              <a:t>Design and development of a decentralized voting system using blockchain.</a:t>
            </a:r>
            <a:endParaRPr lang="en-US"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endParaRPr lang="en-US"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r>
              <a:rPr lang="en-US" sz="2000" dirty="0">
                <a:latin typeface="Times New Roman" panose="02020603050405020304" pitchFamily="18" charset="0"/>
                <a:cs typeface="Times New Roman" panose="02020603050405020304" pitchFamily="18" charset="0"/>
              </a:rPr>
              <a:t>Nandimath and S. Mandape, “Voting and Election System: using Blockchain Technology,” International Journal of Engineering Research &amp; Technology (IJERT), vol. 12, no. 4, Apr. 2023.	</a:t>
            </a:r>
            <a:r>
              <a:rPr lang="en-US" sz="2000" dirty="0">
                <a:latin typeface="Times New Roman" panose="02020603050405020304" pitchFamily="18" charset="0"/>
                <a:cs typeface="Times New Roman" panose="02020603050405020304" pitchFamily="18" charset="0"/>
                <a:hlinkClick r:id="rId4"/>
              </a:rPr>
              <a:t>voting-and-election-system-using-blockchain-technologyIJERTV12IS040084.pdf</a:t>
            </a:r>
            <a:endParaRPr lang="en-US"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endParaRPr lang="en-US" sz="2000" dirty="0">
              <a:latin typeface="Times New Roman" panose="02020603050405020304" pitchFamily="18" charset="0"/>
              <a:cs typeface="Times New Roman" panose="02020603050405020304" pitchFamily="18" charset="0"/>
            </a:endParaRPr>
          </a:p>
          <a:p>
            <a:pPr marL="609596" indent="-457200" algn="just">
              <a:buFont typeface="+mj-lt"/>
              <a:buAutoNum type="arabicParenR"/>
            </a:pPr>
            <a:r>
              <a:rPr lang="en-US" sz="2000" dirty="0">
                <a:latin typeface="Times New Roman" panose="02020603050405020304" pitchFamily="18" charset="0"/>
                <a:cs typeface="Times New Roman" panose="02020603050405020304" pitchFamily="18" charset="0"/>
              </a:rPr>
              <a:t>S. B. Thapa, K. Vijendran, and V. K. V., “DigiVote: Voting System Using Blockchain,” Project Report, Dept. of CSE, AMC Engineering College, VTU, July 2021.</a:t>
            </a:r>
          </a:p>
          <a:p>
            <a:pPr marL="152396" indent="0" algn="just">
              <a:buNone/>
            </a:pPr>
            <a:r>
              <a:rPr lang="en-US" sz="2000" dirty="0">
                <a:latin typeface="Times New Roman" panose="02020603050405020304" pitchFamily="18" charset="0"/>
                <a:cs typeface="Times New Roman" panose="02020603050405020304" pitchFamily="18" charset="0"/>
                <a:hlinkClick r:id="rId5"/>
              </a:rPr>
              <a:t>       (PDF) DigiVote: Voting System Using Blockchain</a:t>
            </a:r>
            <a:r>
              <a:rPr lang="en-IN" sz="2000" dirty="0">
                <a:latin typeface="Times New Roman" panose="02020603050405020304" pitchFamily="18" charset="0"/>
                <a:cs typeface="Times New Roman" panose="02020603050405020304" pitchFamily="18" charset="0"/>
                <a:hlinkClick r:id="rId5"/>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39941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C028D-6F35-C01A-BB3B-DF430701F52D}"/>
              </a:ext>
            </a:extLst>
          </p:cNvPr>
          <p:cNvSpPr>
            <a:spLocks noGrp="1"/>
          </p:cNvSpPr>
          <p:nvPr>
            <p:ph type="title"/>
          </p:nvPr>
        </p:nvSpPr>
        <p:spPr>
          <a:xfrm>
            <a:off x="415600" y="546666"/>
            <a:ext cx="11360800" cy="4452000"/>
          </a:xfrm>
        </p:spPr>
        <p:txBody>
          <a:bodyPr>
            <a:noAutofit/>
          </a:bodyPr>
          <a:lstStyle/>
          <a:p>
            <a:r>
              <a:rPr lang="en-IN" sz="4400" dirty="0">
                <a:latin typeface="Algerian" panose="04020705040A02060702" pitchFamily="82" charset="0"/>
              </a:rPr>
              <a:t>                          </a:t>
            </a:r>
            <a:br>
              <a:rPr lang="en-IN" sz="4400" dirty="0">
                <a:latin typeface="Algerian" panose="04020705040A02060702" pitchFamily="82" charset="0"/>
              </a:rPr>
            </a:br>
            <a:br>
              <a:rPr lang="en-IN" sz="4400" dirty="0">
                <a:latin typeface="Algerian" panose="04020705040A02060702" pitchFamily="82" charset="0"/>
              </a:rPr>
            </a:br>
            <a:r>
              <a:rPr lang="en-IN" sz="4400" dirty="0">
                <a:latin typeface="Algerian" panose="04020705040A02060702" pitchFamily="82" charset="0"/>
              </a:rPr>
              <a:t>                         </a:t>
            </a:r>
            <a:br>
              <a:rPr lang="en-IN" sz="4400" dirty="0">
                <a:latin typeface="Algerian" panose="04020705040A02060702" pitchFamily="82" charset="0"/>
              </a:rPr>
            </a:br>
            <a:r>
              <a:rPr lang="en-IN" sz="4400" dirty="0">
                <a:latin typeface="Algerian" panose="04020705040A02060702" pitchFamily="82" charset="0"/>
              </a:rPr>
              <a:t>                             THANK YOU</a:t>
            </a:r>
          </a:p>
        </p:txBody>
      </p:sp>
      <p:sp>
        <p:nvSpPr>
          <p:cNvPr id="3" name="Text Placeholder 2">
            <a:extLst>
              <a:ext uri="{FF2B5EF4-FFF2-40B4-BE49-F238E27FC236}">
                <a16:creationId xmlns:a16="http://schemas.microsoft.com/office/drawing/2014/main" id="{D4E10E1A-E12A-C1C9-6847-E380E537056E}"/>
              </a:ext>
            </a:extLst>
          </p:cNvPr>
          <p:cNvSpPr>
            <a:spLocks noGrp="1"/>
          </p:cNvSpPr>
          <p:nvPr>
            <p:ph type="body" idx="1"/>
          </p:nvPr>
        </p:nvSpPr>
        <p:spPr>
          <a:xfrm>
            <a:off x="415600" y="1191802"/>
            <a:ext cx="11360800" cy="4900031"/>
          </a:xfrm>
        </p:spPr>
        <p:txBody>
          <a:bodyPr>
            <a:normAutofit/>
          </a:bodyPr>
          <a:lstStyle/>
          <a:p>
            <a:pPr marL="152396" indent="0">
              <a:buNone/>
            </a:pPr>
            <a:r>
              <a:rPr lang="en-IN" sz="4400" dirty="0">
                <a:latin typeface="Algerian" panose="04020705040A02060702" pitchFamily="82" charset="0"/>
              </a:rPr>
              <a:t>                   </a:t>
            </a:r>
          </a:p>
          <a:p>
            <a:pPr marL="152396" indent="0" algn="ctr">
              <a:buNone/>
            </a:pPr>
            <a:endParaRPr lang="en-IN" sz="4400" dirty="0">
              <a:latin typeface="Algerian" panose="04020705040A02060702" pitchFamily="82" charset="0"/>
            </a:endParaRPr>
          </a:p>
          <a:p>
            <a:pPr marL="152396" indent="0" algn="ctr">
              <a:buNone/>
            </a:pPr>
            <a:r>
              <a:rPr lang="en-IN" sz="4400" dirty="0">
                <a:latin typeface="Algerian" panose="04020705040A02060702" pitchFamily="82" charset="0"/>
              </a:rPr>
              <a:t>                         </a:t>
            </a:r>
          </a:p>
        </p:txBody>
      </p:sp>
    </p:spTree>
    <p:extLst>
      <p:ext uri="{BB962C8B-B14F-4D97-AF65-F5344CB8AC3E}">
        <p14:creationId xmlns:p14="http://schemas.microsoft.com/office/powerpoint/2010/main" val="2606779962"/>
      </p:ext>
    </p:extLst>
  </p:cSld>
  <p:clrMapOvr>
    <a:masterClrMapping/>
  </p:clrMapOvr>
</p:sld>
</file>

<file path=ppt/theme/theme1.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Quantum IntelDrug</Template>
  <TotalTime>1529</TotalTime>
  <Words>1685</Words>
  <Application>Microsoft Office PowerPoint</Application>
  <PresentationFormat>Widescreen</PresentationFormat>
  <Paragraphs>200</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Algerian</vt:lpstr>
      <vt:lpstr>Arial</vt:lpstr>
      <vt:lpstr>Calibri</vt:lpstr>
      <vt:lpstr>Roboto</vt:lpstr>
      <vt:lpstr>Times New Roman</vt:lpstr>
      <vt:lpstr>Geometric</vt:lpstr>
      <vt:lpstr>            Major Project : Demonstration –Phase 2   on “IBALLOT : DECENTRALIZED VOTING SYSTEM USING BLOCKCHAIN” GROUP NUMBER: MPG-02                        </vt:lpstr>
      <vt:lpstr>ABSTRACT </vt:lpstr>
      <vt:lpstr>                            CONTENTS</vt:lpstr>
      <vt:lpstr> </vt:lpstr>
      <vt:lpstr>PROBLEM STATEMENT</vt:lpstr>
      <vt:lpstr>OBJECTIVES</vt:lpstr>
      <vt:lpstr>Literature Survey</vt:lpstr>
      <vt:lpstr>PowerPoint Presentation</vt:lpstr>
      <vt:lpstr>SYSTEM DESIGN</vt:lpstr>
      <vt:lpstr>FLOW CHART</vt:lpstr>
      <vt:lpstr>Software Requirements</vt:lpstr>
      <vt:lpstr>IMPLEMENTATION DETAILS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(existing vs. proposed)</vt:lpstr>
      <vt:lpstr>PowerPoint Presentation</vt:lpstr>
      <vt:lpstr>CONCLUSION</vt:lpstr>
      <vt:lpstr>FUTURE ENHANCEMENT</vt:lpstr>
      <vt:lpstr>References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Madhura N M</dc:creator>
  <cp:lastModifiedBy>Chandana M</cp:lastModifiedBy>
  <cp:revision>27</cp:revision>
  <dcterms:created xsi:type="dcterms:W3CDTF">2025-10-15T16:28:36Z</dcterms:created>
  <dcterms:modified xsi:type="dcterms:W3CDTF">2025-12-21T14:34:50Z</dcterms:modified>
</cp:coreProperties>
</file>